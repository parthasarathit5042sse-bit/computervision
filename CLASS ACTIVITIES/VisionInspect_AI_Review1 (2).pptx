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2161520" cy="0"/>
          </a:xfrm>
          <a:prstGeom prst="line">
            <a:avLst/>
          </a:prstGeom>
          <a:noFill/>
          <a:ln w="9525">
            <a:solidFill>
              <a:srgbClr val="1E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783080"/>
            <a:ext cx="12161520" cy="0"/>
          </a:xfrm>
          <a:prstGeom prst="line">
            <a:avLst/>
          </a:prstGeom>
          <a:noFill/>
          <a:ln w="9525">
            <a:solidFill>
              <a:srgbClr val="1E2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743200"/>
            <a:ext cx="12161520" cy="0"/>
          </a:xfrm>
          <a:prstGeom prst="line">
            <a:avLst/>
          </a:prstGeom>
          <a:noFill/>
          <a:ln w="9525">
            <a:solidFill>
              <a:srgbClr val="1E2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703320"/>
            <a:ext cx="12161520" cy="0"/>
          </a:xfrm>
          <a:prstGeom prst="line">
            <a:avLst/>
          </a:prstGeom>
          <a:noFill/>
          <a:ln w="9525">
            <a:solidFill>
              <a:srgbClr val="1E2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663440"/>
            <a:ext cx="12161520" cy="0"/>
          </a:xfrm>
          <a:prstGeom prst="line">
            <a:avLst/>
          </a:prstGeom>
          <a:noFill/>
          <a:ln w="9525">
            <a:solidFill>
              <a:srgbClr val="1E2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623560"/>
            <a:ext cx="12161520" cy="0"/>
          </a:xfrm>
          <a:prstGeom prst="line">
            <a:avLst/>
          </a:prstGeom>
          <a:noFill/>
          <a:ln w="9525">
            <a:solidFill>
              <a:srgbClr val="1E2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457200"/>
            <a:ext cx="457200" cy="0"/>
          </a:xfrm>
          <a:prstGeom prst="line">
            <a:avLst/>
          </a:prstGeom>
          <a:noFill/>
          <a:ln w="31750">
            <a:solidFill>
              <a:srgbClr val="17C3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57200"/>
            <a:ext cx="0" cy="457200"/>
          </a:xfrm>
          <a:prstGeom prst="line">
            <a:avLst/>
          </a:prstGeom>
          <a:noFill/>
          <a:ln w="31750">
            <a:solidFill>
              <a:srgbClr val="17C3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47120" y="457200"/>
            <a:ext cx="457200" cy="0"/>
          </a:xfrm>
          <a:prstGeom prst="line">
            <a:avLst/>
          </a:prstGeom>
          <a:noFill/>
          <a:ln w="31750">
            <a:solidFill>
              <a:srgbClr val="17C3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04320" y="457200"/>
            <a:ext cx="0" cy="457200"/>
          </a:xfrm>
          <a:prstGeom prst="line">
            <a:avLst/>
          </a:prstGeom>
          <a:noFill/>
          <a:ln w="31750">
            <a:solidFill>
              <a:srgbClr val="17C3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5943600"/>
            <a:ext cx="457200" cy="0"/>
          </a:xfrm>
          <a:prstGeom prst="line">
            <a:avLst/>
          </a:prstGeom>
          <a:noFill/>
          <a:ln w="31750">
            <a:solidFill>
              <a:srgbClr val="17C3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5943600"/>
            <a:ext cx="0" cy="457200"/>
          </a:xfrm>
          <a:prstGeom prst="line">
            <a:avLst/>
          </a:prstGeom>
          <a:noFill/>
          <a:ln w="31750">
            <a:solidFill>
              <a:srgbClr val="17C3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247120" y="6400800"/>
            <a:ext cx="457200" cy="0"/>
          </a:xfrm>
          <a:prstGeom prst="line">
            <a:avLst/>
          </a:prstGeom>
          <a:noFill/>
          <a:ln w="31750">
            <a:solidFill>
              <a:srgbClr val="17C3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704320" y="5943600"/>
            <a:ext cx="0" cy="457200"/>
          </a:xfrm>
          <a:prstGeom prst="line">
            <a:avLst/>
          </a:prstGeom>
          <a:noFill/>
          <a:ln w="31750">
            <a:solidFill>
              <a:srgbClr val="17C3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1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 —  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18288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VisionInspect AI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822960" y="278892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B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Surface Defect Detection and Quality Inspection for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B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&amp; Metal Sheet Production, Using Computer Vision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22960" y="4160520"/>
            <a:ext cx="7955280" cy="1600200"/>
          </a:xfrm>
          <a:prstGeom prst="roundRect">
            <a:avLst>
              <a:gd name="adj" fmla="val 4571"/>
            </a:avLst>
          </a:prstGeom>
          <a:solidFill>
            <a:srgbClr val="1B2536"/>
          </a:solidFill>
          <a:ln w="12700">
            <a:solidFill>
              <a:srgbClr val="2838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3159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4645152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Director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Sasi Rekha</a:t>
            </a:r>
            <a:pPr indent="0" marL="0">
              <a:buNone/>
            </a:pPr>
            <a:r>
              <a:rPr lang="en-US" sz="13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Professor, CSE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5047488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Guide       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R C Jeni Gracia</a:t>
            </a:r>
            <a:pPr indent="0" marL="0">
              <a:buNone/>
            </a:pPr>
            <a:r>
              <a:rPr lang="en-US" sz="13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Assistant Professor, CSE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546811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July 2026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4672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VisionInspect AI  •  Review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8C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3492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76200" dist="25400" dir="5400000">
              <a:srgbClr val="2B3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2084832"/>
            <a:ext cx="365760" cy="365760"/>
          </a:xfrm>
          <a:prstGeom prst="oval">
            <a:avLst/>
          </a:prstGeom>
          <a:solidFill>
            <a:srgbClr val="17C3D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1965960"/>
            <a:ext cx="4526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0760" y="1965960"/>
            <a:ext cx="53492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76200" dist="25400" dir="5400000">
              <a:srgbClr val="2B3A4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45352" y="2084832"/>
            <a:ext cx="365760" cy="365760"/>
          </a:xfrm>
          <a:prstGeom prst="oval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6245352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66560" y="1965960"/>
            <a:ext cx="4526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715768"/>
            <a:ext cx="53492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76200" dist="25400" dir="5400000">
              <a:srgbClr val="2B3A4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" y="2834640"/>
            <a:ext cx="365760" cy="365760"/>
          </a:xfrm>
          <a:prstGeom prst="oval">
            <a:avLst/>
          </a:prstGeom>
          <a:solidFill>
            <a:srgbClr val="17C3D6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2715768"/>
            <a:ext cx="4526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080760" y="2715768"/>
            <a:ext cx="53492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76200" dist="25400" dir="5400000">
              <a:srgbClr val="2B3A4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45352" y="2834640"/>
            <a:ext cx="365760" cy="365760"/>
          </a:xfrm>
          <a:prstGeom prst="oval">
            <a:avLst/>
          </a:prstGeom>
          <a:solidFill>
            <a:srgbClr val="F2A93B"/>
          </a:solidFill>
          <a:ln/>
        </p:spPr>
      </p:sp>
      <p:sp>
        <p:nvSpPr>
          <p:cNvPr id="19" name="Text 17"/>
          <p:cNvSpPr/>
          <p:nvPr/>
        </p:nvSpPr>
        <p:spPr>
          <a:xfrm>
            <a:off x="6245352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66560" y="2715768"/>
            <a:ext cx="4526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3465576"/>
            <a:ext cx="53492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76200" dist="25400" dir="5400000">
              <a:srgbClr val="2B3A4A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" y="3584448"/>
            <a:ext cx="365760" cy="365760"/>
          </a:xfrm>
          <a:prstGeom prst="oval">
            <a:avLst/>
          </a:prstGeom>
          <a:solidFill>
            <a:srgbClr val="17C3D6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" y="3584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43000" y="3465576"/>
            <a:ext cx="4526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Overall Design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080760" y="3465576"/>
            <a:ext cx="53492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76200" dist="25400" dir="5400000">
              <a:srgbClr val="2B3A4A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45352" y="3584448"/>
            <a:ext cx="365760" cy="365760"/>
          </a:xfrm>
          <a:prstGeom prst="oval">
            <a:avLst/>
          </a:prstGeom>
          <a:solidFill>
            <a:srgbClr val="F2A93B"/>
          </a:solidFill>
          <a:ln/>
        </p:spPr>
      </p:sp>
      <p:sp>
        <p:nvSpPr>
          <p:cNvPr id="27" name="Text 25"/>
          <p:cNvSpPr/>
          <p:nvPr/>
        </p:nvSpPr>
        <p:spPr>
          <a:xfrm>
            <a:off x="6245352" y="3584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766560" y="3465576"/>
            <a:ext cx="4526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Introduction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4672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VisionInspect AI  •  Review 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8C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6766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quality is critical in steel and metal sheet production, where rolling, casting, and coating processes can introduce defects such as scratches, rolled-in scale, pitted surface, patches, and cracks. VisionInspect AI applies deep-learning-based computer vision to automate the detection and classification of these surface defects on the rolling/coating line, replacing slow, inconsistent manual and fixed-threshold checks with a fast, scalable inspection system.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032504"/>
            <a:ext cx="54864" cy="502920"/>
          </a:xfrm>
          <a:prstGeom prst="rect">
            <a:avLst/>
          </a:prstGeom>
          <a:solidFill>
            <a:srgbClr val="17C3D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3977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42336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rolling and coiling lines outpace manual surface inspection capacity.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4690872"/>
            <a:ext cx="54864" cy="502920"/>
          </a:xfrm>
          <a:prstGeom prst="rect">
            <a:avLst/>
          </a:prstGeom>
          <a:solidFill>
            <a:srgbClr val="17C3D6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46360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vision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generalizes across scratch, scale, and crack patterns better than fixed-threshold checks.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5349240"/>
            <a:ext cx="54864" cy="502920"/>
          </a:xfrm>
          <a:prstGeom prst="rect">
            <a:avLst/>
          </a:prstGeom>
          <a:solidFill>
            <a:srgbClr val="17C3D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52943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555040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Undetected surface defects cause coil rejection, customer complaints, and costly downstream rework.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635240" y="1691640"/>
            <a:ext cx="4069080" cy="4160520"/>
          </a:xfrm>
          <a:prstGeom prst="roundRect">
            <a:avLst>
              <a:gd name="adj" fmla="val 1798"/>
            </a:avLst>
          </a:prstGeom>
          <a:solidFill>
            <a:srgbClr val="1B2536"/>
          </a:solidFill>
          <a:ln/>
        </p:spPr>
      </p:sp>
      <p:sp>
        <p:nvSpPr>
          <p:cNvPr id="16" name="Text 14"/>
          <p:cNvSpPr/>
          <p:nvPr/>
        </p:nvSpPr>
        <p:spPr>
          <a:xfrm>
            <a:off x="7909560" y="18288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1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SURFACE SCAN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869680" y="2194560"/>
            <a:ext cx="1280160" cy="438912"/>
          </a:xfrm>
          <a:prstGeom prst="roundRect">
            <a:avLst>
              <a:gd name="adj" fmla="val 16667"/>
            </a:avLst>
          </a:prstGeom>
          <a:solidFill>
            <a:srgbClr val="17C3D6"/>
          </a:solidFill>
          <a:ln/>
        </p:spPr>
      </p:sp>
      <p:sp>
        <p:nvSpPr>
          <p:cNvPr id="18" name="Shape 16"/>
          <p:cNvSpPr/>
          <p:nvPr/>
        </p:nvSpPr>
        <p:spPr>
          <a:xfrm>
            <a:off x="9345168" y="2295144"/>
            <a:ext cx="256032" cy="256032"/>
          </a:xfrm>
          <a:prstGeom prst="oval">
            <a:avLst/>
          </a:prstGeom>
          <a:solidFill>
            <a:srgbClr val="10161F"/>
          </a:solidFill>
          <a:ln w="12700">
            <a:solidFill>
              <a:srgbClr val="0A111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09176" y="2359152"/>
            <a:ext cx="128016" cy="128016"/>
          </a:xfrm>
          <a:prstGeom prst="oval">
            <a:avLst/>
          </a:prstGeom>
          <a:solidFill>
            <a:srgbClr val="3AA9C2"/>
          </a:solidFill>
          <a:ln/>
        </p:spPr>
      </p:sp>
      <p:sp>
        <p:nvSpPr>
          <p:cNvPr id="20" name="Text 18"/>
          <p:cNvSpPr/>
          <p:nvPr/>
        </p:nvSpPr>
        <p:spPr>
          <a:xfrm>
            <a:off x="8869680" y="2651760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098280" y="2852928"/>
            <a:ext cx="0" cy="320040"/>
          </a:xfrm>
          <a:prstGeom prst="line">
            <a:avLst/>
          </a:prstGeom>
          <a:noFill/>
          <a:ln w="15875">
            <a:solidFill>
              <a:srgbClr val="17C3D6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9509760" y="2852928"/>
            <a:ext cx="0" cy="320040"/>
          </a:xfrm>
          <a:prstGeom prst="line">
            <a:avLst/>
          </a:prstGeom>
          <a:noFill/>
          <a:ln w="15875">
            <a:solidFill>
              <a:srgbClr val="17C3D6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9921240" y="2852928"/>
            <a:ext cx="0" cy="320040"/>
          </a:xfrm>
          <a:prstGeom prst="line">
            <a:avLst/>
          </a:prstGeom>
          <a:noFill/>
          <a:ln w="15875">
            <a:solidFill>
              <a:srgbClr val="17C3D6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7909560" y="3200400"/>
            <a:ext cx="3520440" cy="731520"/>
          </a:xfrm>
          <a:prstGeom prst="roundRect">
            <a:avLst>
              <a:gd name="adj" fmla="val 6250"/>
            </a:avLst>
          </a:prstGeom>
          <a:solidFill>
            <a:srgbClr val="B9C2C9"/>
          </a:solidFill>
          <a:ln w="12700">
            <a:solidFill>
              <a:srgbClr val="8FA3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01000" y="3328416"/>
            <a:ext cx="3337560" cy="0"/>
          </a:xfrm>
          <a:prstGeom prst="line">
            <a:avLst/>
          </a:prstGeom>
          <a:noFill/>
          <a:ln w="9525">
            <a:solidFill>
              <a:srgbClr val="9FB0B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01000" y="3474720"/>
            <a:ext cx="3337560" cy="0"/>
          </a:xfrm>
          <a:prstGeom prst="line">
            <a:avLst/>
          </a:prstGeom>
          <a:noFill/>
          <a:ln w="9525">
            <a:solidFill>
              <a:srgbClr val="9FB0B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01000" y="3621024"/>
            <a:ext cx="3337560" cy="0"/>
          </a:xfrm>
          <a:prstGeom prst="line">
            <a:avLst/>
          </a:prstGeom>
          <a:noFill/>
          <a:ln w="9525">
            <a:solidFill>
              <a:srgbClr val="9FB0B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01000" y="3767328"/>
            <a:ext cx="3337560" cy="0"/>
          </a:xfrm>
          <a:prstGeom prst="line">
            <a:avLst/>
          </a:prstGeom>
          <a:noFill/>
          <a:ln w="9525">
            <a:solidFill>
              <a:srgbClr val="9FB0B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01200" y="3291840"/>
            <a:ext cx="777240" cy="502920"/>
          </a:xfrm>
          <a:prstGeom prst="rect">
            <a:avLst/>
          </a:prstGeom>
          <a:ln w="25400">
            <a:solidFill>
              <a:srgbClr val="F2A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01200" y="3822192"/>
            <a:ext cx="1051560" cy="23774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1" name="Text 29"/>
          <p:cNvSpPr/>
          <p:nvPr/>
        </p:nvSpPr>
        <p:spPr>
          <a:xfrm>
            <a:off x="9601200" y="382219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 · 91%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909560" y="418795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B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scans every meter of coil in real time — the model boxes and labels each defect it finds.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92440" y="4937760"/>
            <a:ext cx="2971800" cy="0"/>
          </a:xfrm>
          <a:prstGeom prst="line">
            <a:avLst/>
          </a:prstGeom>
          <a:noFill/>
          <a:ln w="15875">
            <a:solidFill>
              <a:srgbClr val="3A4A5E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7909560" y="4754880"/>
            <a:ext cx="365760" cy="365760"/>
          </a:xfrm>
          <a:prstGeom prst="oval">
            <a:avLst/>
          </a:prstGeom>
          <a:solidFill>
            <a:srgbClr val="17C3D6"/>
          </a:solidFill>
          <a:ln/>
        </p:spPr>
      </p:sp>
      <p:sp>
        <p:nvSpPr>
          <p:cNvPr id="35" name="Text 33"/>
          <p:cNvSpPr/>
          <p:nvPr/>
        </p:nvSpPr>
        <p:spPr>
          <a:xfrm>
            <a:off x="790956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562088" y="5157216"/>
            <a:ext cx="10607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961120" y="4754880"/>
            <a:ext cx="365760" cy="365760"/>
          </a:xfrm>
          <a:prstGeom prst="oval">
            <a:avLst/>
          </a:prstGeom>
          <a:solidFill>
            <a:srgbClr val="17C3D6"/>
          </a:solidFill>
          <a:ln/>
        </p:spPr>
      </p:sp>
      <p:sp>
        <p:nvSpPr>
          <p:cNvPr id="38" name="Text 36"/>
          <p:cNvSpPr/>
          <p:nvPr/>
        </p:nvSpPr>
        <p:spPr>
          <a:xfrm>
            <a:off x="896112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613648" y="5157216"/>
            <a:ext cx="10607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0012680" y="4754880"/>
            <a:ext cx="365760" cy="365760"/>
          </a:xfrm>
          <a:prstGeom prst="oval">
            <a:avLst/>
          </a:prstGeom>
          <a:solidFill>
            <a:srgbClr val="17C3D6"/>
          </a:solidFill>
          <a:ln/>
        </p:spPr>
      </p:sp>
      <p:sp>
        <p:nvSpPr>
          <p:cNvPr id="41" name="Text 39"/>
          <p:cNvSpPr/>
          <p:nvPr/>
        </p:nvSpPr>
        <p:spPr>
          <a:xfrm>
            <a:off x="1001268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665208" y="5157216"/>
            <a:ext cx="10607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1064240" y="4754880"/>
            <a:ext cx="365760" cy="365760"/>
          </a:xfrm>
          <a:prstGeom prst="oval">
            <a:avLst/>
          </a:prstGeom>
          <a:solidFill>
            <a:srgbClr val="F2A93B"/>
          </a:solidFill>
          <a:ln/>
        </p:spPr>
      </p:sp>
      <p:sp>
        <p:nvSpPr>
          <p:cNvPr id="44" name="Text 42"/>
          <p:cNvSpPr/>
          <p:nvPr/>
        </p:nvSpPr>
        <p:spPr>
          <a:xfrm>
            <a:off x="1106424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0716768" y="5157216"/>
            <a:ext cx="10607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04672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VisionInspect AI  •  Review 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8C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4160520"/>
        </p:xfrm>
        <a:graphic>
          <a:graphicData uri="http://schemas.openxmlformats.org/drawingml/2006/table">
            <a:tbl>
              <a:tblPr/>
              <a:tblGrid>
                <a:gridCol w="3017520"/>
                <a:gridCol w="4663440"/>
                <a:gridCol w="356616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/ 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Limitation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Song &amp; Yan, 2013 (NEU dataset)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texture/edge features for steel surfaces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Fails on varying lighting and scale/rust noise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et al., 2020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CNN-based hot-rolled steel strip defect classifier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large pixel-level labeled datasets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Zhou et al., 2021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YOLO-based real-time strip-surface defect detection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Struggles with very small or low-contrast defects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Konovalenko et al., 2022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ResNet-based classifier for scratches/patches/scale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compute cost, harder to deploy at the edge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Liu et al., 2023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Autoencoder-based unsupervised surface anomaly detection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false-positive rate on novel defect types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1691640"/>
            <a:ext cx="11247120" cy="685800"/>
          </a:xfrm>
          <a:prstGeom prst="rect">
            <a:avLst/>
          </a:prstGeom>
          <a:solidFill>
            <a:srgbClr val="1B2536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69164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/ Year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566160" y="169164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38160" y="169164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Limitation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identified: existing steel-surface inspection methods trade off accuracy, speed, and dataset requirements — few combine real-time rolling-line performance with low labeled-data needs and clear defect-severity reporting.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04672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VisionInspect AI  •  Review 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C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1B2536"/>
          </a:solidFill>
          <a:ln w="15875">
            <a:solidFill>
              <a:srgbClr val="17C3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 and fixed-threshold vision systems on steel rolling and coating lines are slow, inconsistent across shifts, and cannot reliably catch fine-grained scratches, scale, and cracks at modern coil speeds — resulting in customer complaints, inflated rework costs, and delayed quality feedback.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1B2536"/>
          </a:solidFill>
          <a:ln w="12700">
            <a:solidFill>
              <a:srgbClr val="2838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3886200"/>
            <a:ext cx="457200" cy="457200"/>
          </a:xfrm>
          <a:prstGeom prst="oval">
            <a:avLst/>
          </a:prstGeom>
          <a:solidFill>
            <a:srgbClr val="F2A93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4480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85800" y="48006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judgment on subtle scratches/scale varies by fatigue and operator skill.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37560" y="365760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1B2536"/>
          </a:solidFill>
          <a:ln w="12700">
            <a:solidFill>
              <a:srgbClr val="2838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6160" y="3886200"/>
            <a:ext cx="457200" cy="457200"/>
          </a:xfrm>
          <a:prstGeom prst="oval">
            <a:avLst/>
          </a:prstGeom>
          <a:solidFill>
            <a:srgbClr val="F2A93B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66160" y="4480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566160" y="48006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checks cannot keep pace with high-speed rolling and coiling lines.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365760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1B2536"/>
          </a:solidFill>
          <a:ln w="12700">
            <a:solidFill>
              <a:srgbClr val="2838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3886200"/>
            <a:ext cx="457200" cy="457200"/>
          </a:xfrm>
          <a:prstGeom prst="oval">
            <a:avLst/>
          </a:prstGeom>
          <a:solidFill>
            <a:srgbClr val="F2A93B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46520" y="4480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46520" y="48006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surface defect can cause an entire coil to be rejected downstream.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98280" y="365760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1B2536"/>
          </a:solidFill>
          <a:ln w="12700">
            <a:solidFill>
              <a:srgbClr val="2838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26880" y="3886200"/>
            <a:ext cx="457200" cy="457200"/>
          </a:xfrm>
          <a:prstGeom prst="oval">
            <a:avLst/>
          </a:prstGeom>
          <a:solidFill>
            <a:srgbClr val="F2A93B"/>
          </a:solidFill>
          <a:ln/>
        </p:spPr>
      </p:sp>
      <p:sp>
        <p:nvSpPr>
          <p:cNvPr id="24" name="Text 22"/>
          <p:cNvSpPr/>
          <p:nvPr/>
        </p:nvSpPr>
        <p:spPr>
          <a:xfrm>
            <a:off x="93268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26880" y="4480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scalable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326880" y="48006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Fixed-threshold vision needs constant retuning for new steel grades and finishes.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4672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VisionInspect AI  •  Review 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8C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20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7C3D6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883664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surface detection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19456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localize scratches, scale, patches, and cracks on the rolling/coating line in real time using a deep-learning vision model.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73736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10528" y="1920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7C3D6"/>
          </a:solidFill>
          <a:ln/>
        </p:spPr>
      </p:sp>
      <p:sp>
        <p:nvSpPr>
          <p:cNvPr id="12" name="Text 10"/>
          <p:cNvSpPr/>
          <p:nvPr/>
        </p:nvSpPr>
        <p:spPr>
          <a:xfrm>
            <a:off x="6510528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86600" y="1883664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accuracy, low false alarms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86600" y="219456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both missed surface defects (false negatives) and unnecessary coil rejects (false positives).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3832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7C3D6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3346704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classification &amp; severity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65760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defect type (scratch, scale, pitted surface, crack, etc.) and severity to support accept / rework / reject decisions.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320040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10528" y="33832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7C3D6"/>
          </a:solidFill>
          <a:ln/>
        </p:spPr>
      </p:sp>
      <p:sp>
        <p:nvSpPr>
          <p:cNvPr id="22" name="Text 20"/>
          <p:cNvSpPr/>
          <p:nvPr/>
        </p:nvSpPr>
        <p:spPr>
          <a:xfrm>
            <a:off x="6510528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86600" y="3346704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reporting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86600" y="365760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dashboard with inspection logs, defect trends, and instant alerts for line operators.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4663440"/>
            <a:ext cx="1124712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48463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7C3D6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34440" y="4809744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Deployability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34440" y="512064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pipeline lightweight enough to run on rolling-line / edge hardware alongside existing line-scan cameras.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4672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VisionInspect AI  •  Review 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8C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DESIGN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DCE1E7"/>
            </a:solidFill>
            <a:prstDash val="solid"/>
          </a:ln>
          <a:effectLst>
            <a:outerShdw sx="100000" sy="100000" kx="0" ky="0" algn="bl" rotWithShape="0" blurRad="76200" dist="25400" dir="5400000">
              <a:srgbClr val="2B3A4A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" y="2596896"/>
            <a:ext cx="15453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Image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30352" y="3218688"/>
            <a:ext cx="1545336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Line-scan camera / sensor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48840" y="3086100"/>
            <a:ext cx="219456" cy="0"/>
          </a:xfrm>
          <a:prstGeom prst="line">
            <a:avLst/>
          </a:prstGeom>
          <a:noFill/>
          <a:ln w="25400">
            <a:solidFill>
              <a:srgbClr val="3A4A5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368296" y="246888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DCE1E7"/>
            </a:solidFill>
            <a:prstDash val="solid"/>
          </a:ln>
          <a:effectLst>
            <a:outerShdw sx="100000" sy="100000" kx="0" ky="0" algn="bl" rotWithShape="0" blurRad="76200" dist="25400" dir="5400000">
              <a:srgbClr val="2B3A4A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41448" y="2596896"/>
            <a:ext cx="15453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441448" y="3218688"/>
            <a:ext cx="1545336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Denoise, unwarp, normalize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059936" y="3086100"/>
            <a:ext cx="219456" cy="0"/>
          </a:xfrm>
          <a:prstGeom prst="line">
            <a:avLst/>
          </a:prstGeom>
          <a:noFill/>
          <a:ln w="25400">
            <a:solidFill>
              <a:srgbClr val="3A4A5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79392" y="246888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17C3D6"/>
          </a:solidFill>
          <a:ln w="15875">
            <a:solidFill>
              <a:srgbClr val="0E8C9A"/>
            </a:solidFill>
            <a:prstDash val="solid"/>
          </a:ln>
          <a:effectLst>
            <a:outerShdw sx="100000" sy="100000" kx="0" ky="0" algn="bl" rotWithShape="0" blurRad="76200" dist="25400" dir="5400000">
              <a:srgbClr val="2B3A4A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52544" y="2596896"/>
            <a:ext cx="15453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0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Model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352544" y="3218688"/>
            <a:ext cx="1545336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/ YOLO backbone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71032" y="3086100"/>
            <a:ext cx="219456" cy="0"/>
          </a:xfrm>
          <a:prstGeom prst="line">
            <a:avLst/>
          </a:prstGeom>
          <a:noFill/>
          <a:ln w="25400">
            <a:solidFill>
              <a:srgbClr val="3A4A5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190488" y="246888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DCE1E7"/>
            </a:solidFill>
            <a:prstDash val="solid"/>
          </a:ln>
          <a:effectLst>
            <a:outerShdw sx="100000" sy="100000" kx="0" ky="0" algn="bl" rotWithShape="0" blurRad="76200" dist="25400" dir="5400000">
              <a:srgbClr val="2B3A4A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63640" y="2596896"/>
            <a:ext cx="15453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Severity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63640" y="3218688"/>
            <a:ext cx="1545336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Scratch, scale, crack, etc.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882128" y="3086100"/>
            <a:ext cx="219456" cy="0"/>
          </a:xfrm>
          <a:prstGeom prst="line">
            <a:avLst/>
          </a:prstGeom>
          <a:noFill/>
          <a:ln w="25400">
            <a:solidFill>
              <a:srgbClr val="3A4A5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101584" y="246888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DCE1E7"/>
            </a:solidFill>
            <a:prstDash val="solid"/>
          </a:ln>
          <a:effectLst>
            <a:outerShdw sx="100000" sy="100000" kx="0" ky="0" algn="bl" rotWithShape="0" blurRad="76200" dist="25400" dir="5400000">
              <a:srgbClr val="2B3A4A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74736" y="2596896"/>
            <a:ext cx="15453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174736" y="3218688"/>
            <a:ext cx="1545336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/ Rework / Reject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793224" y="3086100"/>
            <a:ext cx="219456" cy="0"/>
          </a:xfrm>
          <a:prstGeom prst="line">
            <a:avLst/>
          </a:prstGeom>
          <a:noFill/>
          <a:ln w="25400">
            <a:solidFill>
              <a:srgbClr val="3A4A5E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012680" y="246888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DCE1E7"/>
            </a:solidFill>
            <a:prstDash val="solid"/>
          </a:ln>
          <a:effectLst>
            <a:outerShdw sx="100000" sy="100000" kx="0" ky="0" algn="bl" rotWithShape="0" blurRad="76200" dist="25400" dir="5400000">
              <a:srgbClr val="2B3A4A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085832" y="2596896"/>
            <a:ext cx="15453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Alerts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085832" y="3218688"/>
            <a:ext cx="1545336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Logs, trends, notifications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148840" y="4206240"/>
            <a:ext cx="7452360" cy="0"/>
          </a:xfrm>
          <a:prstGeom prst="line">
            <a:avLst/>
          </a:prstGeom>
          <a:noFill/>
          <a:ln w="19050">
            <a:solidFill>
              <a:srgbClr val="F2A93B"/>
            </a:solidFill>
            <a:prstDash val="dash"/>
            <a:headEnd type="triangle"/>
          </a:ln>
        </p:spPr>
      </p:sp>
      <p:sp>
        <p:nvSpPr>
          <p:cNvPr id="29" name="Text 27"/>
          <p:cNvSpPr/>
          <p:nvPr/>
        </p:nvSpPr>
        <p:spPr>
          <a:xfrm>
            <a:off x="2148840" y="4297680"/>
            <a:ext cx="7452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 — flagged surface defects retrain / recalibrate the model over time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1691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ingests live surface images from the rolling/coating line-scan camera, prepares them for inference, runs a deep-learning detection model to localize scratches, scale, and cracks, classifies severity, and routes an accept / rework / reject decision — while every result is logged to a monitoring dashboard.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4672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VisionInspect AI  •  Review 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8C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 Introduction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63500" dist="25400" dir="5400000">
              <a:srgbClr val="2B3A4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96596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17C3D6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965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49631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Image Acquisition Module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299008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synchronized, well-lit line-scan images of the coil/sheet surface and streams them to the pipeline.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17830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63500" dist="25400" dir="5400000">
              <a:srgbClr val="2B3A4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53128" y="196596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F2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453128" y="1965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80560" y="249631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 Module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480560" y="299008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Unwarps, resizes, and normalizes surface images; reduces noise, glare, and reflectivity variation before inference.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17830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63500" dist="25400" dir="5400000">
              <a:srgbClr val="2B3A4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47888" y="196596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17C3D6"/>
          </a:solidFill>
          <a:ln/>
        </p:spPr>
      </p:sp>
      <p:sp>
        <p:nvSpPr>
          <p:cNvPr id="17" name="Text 15"/>
          <p:cNvSpPr/>
          <p:nvPr/>
        </p:nvSpPr>
        <p:spPr>
          <a:xfrm>
            <a:off x="8247888" y="1965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75320" y="249631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Detection Module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75320" y="299008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 model (CNN / YOLO) that localizes scratches, scale, patches, and cracks on each frame.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63500" dist="25400" dir="5400000">
              <a:srgbClr val="2B3A4A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" y="420624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F2A93B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" y="473659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&amp; Severity Module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85800" y="523036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defect type — scratch, rolled-in scale, pitted surface, crack — and scores severity.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51960" y="40233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63500" dist="25400" dir="5400000">
              <a:srgbClr val="2B3A4A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53128" y="420624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17C3D6"/>
          </a:solidFill>
          <a:ln/>
        </p:spPr>
      </p:sp>
      <p:sp>
        <p:nvSpPr>
          <p:cNvPr id="27" name="Text 25"/>
          <p:cNvSpPr/>
          <p:nvPr/>
        </p:nvSpPr>
        <p:spPr>
          <a:xfrm>
            <a:off x="4453128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480560" y="473659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 Module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480560" y="523036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rules to route each coil/sheet segment as Accept, Rework, or Reject.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46720" y="40233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63500" dist="25400" dir="5400000">
              <a:srgbClr val="2B3A4A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47888" y="420624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F2A93B"/>
          </a:solidFill>
          <a:ln/>
        </p:spPr>
      </p:sp>
      <p:sp>
        <p:nvSpPr>
          <p:cNvPr id="32" name="Text 30"/>
          <p:cNvSpPr/>
          <p:nvPr/>
        </p:nvSpPr>
        <p:spPr>
          <a:xfrm>
            <a:off x="8247888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75320" y="473659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Alerts Module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275320" y="523036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surface inspection history, defect-trend analytics, and real-time line-operator alerts.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4672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VisionInspect AI  •  Review 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2026-07-23T03:33:59Z</dcterms:created>
  <dcterms:modified xsi:type="dcterms:W3CDTF">2026-07-23T03:33:59Z</dcterms:modified>
</cp:coreProperties>
</file>