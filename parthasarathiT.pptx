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CCD</c:v>
                </c:pt>
              </c:strCache>
            </c:strRef>
          </c:tx>
          <c:spPr>
            <a:solidFill>
              <a:srgbClr val="F2A93B"/>
            </a:solidFill>
            <a:ln w="28575" cap="flat">
              <a:solidFill>
                <a:srgbClr val="F2A93B"/>
              </a:solidFill>
              <a:prstDash val="solid"/>
              <a:round/>
            </a:ln>
            <a:effectLst/>
          </c:spPr>
          <c:invertIfNegative val="0"/>
          <c:marker>
            <c:symbol val="circle"/>
            <c:size val="6"/>
            <c:spPr>
              <a:solidFill>
                <a:srgbClr val="F2A93B"/>
              </a:solidFill>
              <a:ln w="9525" cap="flat">
                <a:solidFill>
                  <a:srgbClr val="F2A93B"/>
                </a:solidFill>
                <a:prstDash val="solid"/>
                <a:round/>
              </a:ln>
              <a:effectLst/>
            </c:spPr>
          </c:marker>
          <c:cat>
            <c:multiLvlStrRef>
              <c:f>Sheet1!$A$2:$A$7</c:f>
              <c:multiLvlStrCache>
                <c:ptCount val="6"/>
                <c:lvl>
                  <c:pt idx="0">
                    <c:v>Dynamic Range</c:v>
                  </c:pt>
                  <c:pt idx="1">
                    <c:v>Power Efficiency</c:v>
                  </c:pt>
                  <c:pt idx="2">
                    <c:v>Readout Speed</c:v>
                  </c:pt>
                  <c:pt idx="3">
                    <c:v>Cost Efficiency</c:v>
                  </c:pt>
                  <c:pt idx="4">
                    <c:v>Low-Light Noise Perf.</c:v>
                  </c:pt>
                  <c:pt idx="5">
                    <c:v>On-Chip Integration</c:v>
                  </c:pt>
                </c:lvl>
              </c:multiLvlStrCache>
            </c:multiLvlStrRef>
          </c:cat>
          <c:val>
            <c:numRef>
              <c:f>Sheet1!$B$2:$B$7</c:f>
              <c:numCache>
                <c:formatCode>General</c:formatCode>
                <c:ptCount val="6"/>
                <c:pt idx="0">
                  <c:v>8</c:v>
                </c:pt>
                <c:pt idx="1">
                  <c:v>3</c:v>
                </c:pt>
                <c:pt idx="2">
                  <c:v>4</c:v>
                </c:pt>
                <c:pt idx="3">
                  <c:v>3</c:v>
                </c:pt>
                <c:pt idx="4">
                  <c:v>8</c:v>
                </c:pt>
                <c:pt idx="5">
                  <c:v>3</c:v>
                </c:pt>
              </c:numCache>
            </c:numRef>
          </c:val>
        </c:ser>
        <c:ser>
          <c:idx val="1"/>
          <c:order val="1"/>
          <c:tx>
            <c:strRef>
              <c:f>Sheet1!$C$1</c:f>
              <c:strCache>
                <c:ptCount val="1"/>
                <c:pt idx="0">
                  <c:v>CMOS</c:v>
                </c:pt>
              </c:strCache>
            </c:strRef>
          </c:tx>
          <c:spPr>
            <a:solidFill>
              <a:srgbClr val="2FB8CC"/>
            </a:solidFill>
            <a:ln w="28575" cap="flat">
              <a:solidFill>
                <a:srgbClr val="2FB8CC"/>
              </a:solidFill>
              <a:prstDash val="solid"/>
              <a:round/>
            </a:ln>
            <a:effectLst/>
          </c:spPr>
          <c:invertIfNegative val="0"/>
          <c:marker>
            <c:symbol val="circle"/>
            <c:size val="6"/>
            <c:spPr>
              <a:solidFill>
                <a:srgbClr val="2FB8CC"/>
              </a:solidFill>
              <a:ln w="9525" cap="flat">
                <a:solidFill>
                  <a:srgbClr val="2FB8CC"/>
                </a:solidFill>
                <a:prstDash val="solid"/>
                <a:round/>
              </a:ln>
              <a:effectLst/>
            </c:spPr>
          </c:marker>
          <c:cat>
            <c:multiLvlStrRef>
              <c:f>Sheet1!$A$2:$A$7</c:f>
              <c:multiLvlStrCache>
                <c:ptCount val="6"/>
                <c:lvl>
                  <c:pt idx="0">
                    <c:v>Dynamic Range</c:v>
                  </c:pt>
                  <c:pt idx="1">
                    <c:v>Power Efficiency</c:v>
                  </c:pt>
                  <c:pt idx="2">
                    <c:v>Readout Speed</c:v>
                  </c:pt>
                  <c:pt idx="3">
                    <c:v>Cost Efficiency</c:v>
                  </c:pt>
                  <c:pt idx="4">
                    <c:v>Low-Light Noise Perf.</c:v>
                  </c:pt>
                  <c:pt idx="5">
                    <c:v>On-Chip Integration</c:v>
                  </c:pt>
                </c:lvl>
              </c:multiLvlStrCache>
            </c:multiLvlStrRef>
          </c:cat>
          <c:val>
            <c:numRef>
              <c:f>Sheet1!$C$2:$C$7</c:f>
              <c:numCache>
                <c:formatCode>General</c:formatCode>
                <c:ptCount val="6"/>
                <c:pt idx="0">
                  <c:v>7</c:v>
                </c:pt>
                <c:pt idx="1">
                  <c:v>9</c:v>
                </c:pt>
                <c:pt idx="2">
                  <c:v>9</c:v>
                </c:pt>
                <c:pt idx="3">
                  <c:v>9</c:v>
                </c:pt>
                <c:pt idx="4">
                  <c:v>7</c:v>
                </c:pt>
                <c:pt idx="5">
                  <c:v>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B1D33"/>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2"/>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0B1D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Shape 0"/>
          <p:cNvSpPr/>
          <p:nvPr/>
        </p:nvSpPr>
        <p:spPr>
          <a:xfrm>
            <a:off x="9646920" y="502920"/>
            <a:ext cx="173736" cy="173736"/>
          </a:xfrm>
          <a:prstGeom prst="rect">
            <a:avLst/>
          </a:prstGeom>
          <a:solidFill>
            <a:srgbClr val="F2A93B"/>
          </a:solidFill>
          <a:ln/>
        </p:spPr>
      </p:sp>
      <p:sp>
        <p:nvSpPr>
          <p:cNvPr id="3" name="Shape 1"/>
          <p:cNvSpPr/>
          <p:nvPr/>
        </p:nvSpPr>
        <p:spPr>
          <a:xfrm>
            <a:off x="9848088" y="502920"/>
            <a:ext cx="173736" cy="173736"/>
          </a:xfrm>
          <a:prstGeom prst="rect">
            <a:avLst/>
          </a:prstGeom>
          <a:solidFill>
            <a:srgbClr val="1C3555"/>
          </a:solidFill>
          <a:ln/>
        </p:spPr>
      </p:sp>
      <p:sp>
        <p:nvSpPr>
          <p:cNvPr id="4" name="Shape 2"/>
          <p:cNvSpPr/>
          <p:nvPr/>
        </p:nvSpPr>
        <p:spPr>
          <a:xfrm>
            <a:off x="10049256" y="502920"/>
            <a:ext cx="173736" cy="173736"/>
          </a:xfrm>
          <a:prstGeom prst="rect">
            <a:avLst/>
          </a:prstGeom>
          <a:solidFill>
            <a:srgbClr val="1C3555"/>
          </a:solidFill>
          <a:ln/>
        </p:spPr>
      </p:sp>
      <p:sp>
        <p:nvSpPr>
          <p:cNvPr id="5" name="Shape 3"/>
          <p:cNvSpPr/>
          <p:nvPr/>
        </p:nvSpPr>
        <p:spPr>
          <a:xfrm>
            <a:off x="10250424" y="502920"/>
            <a:ext cx="173736" cy="173736"/>
          </a:xfrm>
          <a:prstGeom prst="rect">
            <a:avLst/>
          </a:prstGeom>
          <a:solidFill>
            <a:srgbClr val="1C3555"/>
          </a:solidFill>
          <a:ln/>
        </p:spPr>
      </p:sp>
      <p:sp>
        <p:nvSpPr>
          <p:cNvPr id="6" name="Shape 4"/>
          <p:cNvSpPr/>
          <p:nvPr/>
        </p:nvSpPr>
        <p:spPr>
          <a:xfrm>
            <a:off x="10451592" y="502920"/>
            <a:ext cx="173736" cy="173736"/>
          </a:xfrm>
          <a:prstGeom prst="rect">
            <a:avLst/>
          </a:prstGeom>
          <a:solidFill>
            <a:srgbClr val="1C3555"/>
          </a:solidFill>
          <a:ln/>
        </p:spPr>
      </p:sp>
      <p:sp>
        <p:nvSpPr>
          <p:cNvPr id="7" name="Shape 5"/>
          <p:cNvSpPr/>
          <p:nvPr/>
        </p:nvSpPr>
        <p:spPr>
          <a:xfrm>
            <a:off x="10652760" y="502920"/>
            <a:ext cx="173736" cy="173736"/>
          </a:xfrm>
          <a:prstGeom prst="rect">
            <a:avLst/>
          </a:prstGeom>
          <a:solidFill>
            <a:srgbClr val="F2A93B"/>
          </a:solidFill>
          <a:ln/>
        </p:spPr>
      </p:sp>
      <p:sp>
        <p:nvSpPr>
          <p:cNvPr id="8" name="Shape 6"/>
          <p:cNvSpPr/>
          <p:nvPr/>
        </p:nvSpPr>
        <p:spPr>
          <a:xfrm>
            <a:off x="10853928" y="502920"/>
            <a:ext cx="173736" cy="173736"/>
          </a:xfrm>
          <a:prstGeom prst="rect">
            <a:avLst/>
          </a:prstGeom>
          <a:solidFill>
            <a:srgbClr val="1C3555"/>
          </a:solidFill>
          <a:ln/>
        </p:spPr>
      </p:sp>
      <p:sp>
        <p:nvSpPr>
          <p:cNvPr id="9" name="Shape 7"/>
          <p:cNvSpPr/>
          <p:nvPr/>
        </p:nvSpPr>
        <p:spPr>
          <a:xfrm>
            <a:off x="11055096" y="502920"/>
            <a:ext cx="173736" cy="173736"/>
          </a:xfrm>
          <a:prstGeom prst="rect">
            <a:avLst/>
          </a:prstGeom>
          <a:solidFill>
            <a:srgbClr val="2FB8CC"/>
          </a:solidFill>
          <a:ln/>
        </p:spPr>
      </p:sp>
      <p:sp>
        <p:nvSpPr>
          <p:cNvPr id="10" name="Shape 8"/>
          <p:cNvSpPr/>
          <p:nvPr/>
        </p:nvSpPr>
        <p:spPr>
          <a:xfrm>
            <a:off x="9646920" y="704088"/>
            <a:ext cx="173736" cy="173736"/>
          </a:xfrm>
          <a:prstGeom prst="rect">
            <a:avLst/>
          </a:prstGeom>
          <a:solidFill>
            <a:srgbClr val="1C3555"/>
          </a:solidFill>
          <a:ln/>
        </p:spPr>
      </p:sp>
      <p:sp>
        <p:nvSpPr>
          <p:cNvPr id="11" name="Shape 9"/>
          <p:cNvSpPr/>
          <p:nvPr/>
        </p:nvSpPr>
        <p:spPr>
          <a:xfrm>
            <a:off x="9848088" y="704088"/>
            <a:ext cx="173736" cy="173736"/>
          </a:xfrm>
          <a:prstGeom prst="rect">
            <a:avLst/>
          </a:prstGeom>
          <a:solidFill>
            <a:srgbClr val="1C3555"/>
          </a:solidFill>
          <a:ln/>
        </p:spPr>
      </p:sp>
      <p:sp>
        <p:nvSpPr>
          <p:cNvPr id="12" name="Shape 10"/>
          <p:cNvSpPr/>
          <p:nvPr/>
        </p:nvSpPr>
        <p:spPr>
          <a:xfrm>
            <a:off x="10049256" y="704088"/>
            <a:ext cx="173736" cy="173736"/>
          </a:xfrm>
          <a:prstGeom prst="rect">
            <a:avLst/>
          </a:prstGeom>
          <a:solidFill>
            <a:srgbClr val="1C3555"/>
          </a:solidFill>
          <a:ln/>
        </p:spPr>
      </p:sp>
      <p:sp>
        <p:nvSpPr>
          <p:cNvPr id="13" name="Shape 11"/>
          <p:cNvSpPr/>
          <p:nvPr/>
        </p:nvSpPr>
        <p:spPr>
          <a:xfrm>
            <a:off x="10250424" y="704088"/>
            <a:ext cx="173736" cy="173736"/>
          </a:xfrm>
          <a:prstGeom prst="rect">
            <a:avLst/>
          </a:prstGeom>
          <a:solidFill>
            <a:srgbClr val="1C3555"/>
          </a:solidFill>
          <a:ln/>
        </p:spPr>
      </p:sp>
      <p:sp>
        <p:nvSpPr>
          <p:cNvPr id="14" name="Shape 12"/>
          <p:cNvSpPr/>
          <p:nvPr/>
        </p:nvSpPr>
        <p:spPr>
          <a:xfrm>
            <a:off x="10451592" y="704088"/>
            <a:ext cx="173736" cy="173736"/>
          </a:xfrm>
          <a:prstGeom prst="rect">
            <a:avLst/>
          </a:prstGeom>
          <a:solidFill>
            <a:srgbClr val="F2A93B"/>
          </a:solidFill>
          <a:ln/>
        </p:spPr>
      </p:sp>
      <p:sp>
        <p:nvSpPr>
          <p:cNvPr id="15" name="Shape 13"/>
          <p:cNvSpPr/>
          <p:nvPr/>
        </p:nvSpPr>
        <p:spPr>
          <a:xfrm>
            <a:off x="10652760" y="704088"/>
            <a:ext cx="173736" cy="173736"/>
          </a:xfrm>
          <a:prstGeom prst="rect">
            <a:avLst/>
          </a:prstGeom>
          <a:solidFill>
            <a:srgbClr val="1C3555"/>
          </a:solidFill>
          <a:ln/>
        </p:spPr>
      </p:sp>
      <p:sp>
        <p:nvSpPr>
          <p:cNvPr id="16" name="Shape 14"/>
          <p:cNvSpPr/>
          <p:nvPr/>
        </p:nvSpPr>
        <p:spPr>
          <a:xfrm>
            <a:off x="10853928" y="704088"/>
            <a:ext cx="173736" cy="173736"/>
          </a:xfrm>
          <a:prstGeom prst="rect">
            <a:avLst/>
          </a:prstGeom>
          <a:solidFill>
            <a:srgbClr val="2FB8CC"/>
          </a:solidFill>
          <a:ln/>
        </p:spPr>
      </p:sp>
      <p:sp>
        <p:nvSpPr>
          <p:cNvPr id="17" name="Shape 15"/>
          <p:cNvSpPr/>
          <p:nvPr/>
        </p:nvSpPr>
        <p:spPr>
          <a:xfrm>
            <a:off x="11055096" y="704088"/>
            <a:ext cx="173736" cy="173736"/>
          </a:xfrm>
          <a:prstGeom prst="rect">
            <a:avLst/>
          </a:prstGeom>
          <a:solidFill>
            <a:srgbClr val="1C3555"/>
          </a:solidFill>
          <a:ln/>
        </p:spPr>
      </p:sp>
      <p:sp>
        <p:nvSpPr>
          <p:cNvPr id="18" name="Shape 16"/>
          <p:cNvSpPr/>
          <p:nvPr/>
        </p:nvSpPr>
        <p:spPr>
          <a:xfrm>
            <a:off x="9646920" y="905256"/>
            <a:ext cx="173736" cy="173736"/>
          </a:xfrm>
          <a:prstGeom prst="rect">
            <a:avLst/>
          </a:prstGeom>
          <a:solidFill>
            <a:srgbClr val="1C3555"/>
          </a:solidFill>
          <a:ln/>
        </p:spPr>
      </p:sp>
      <p:sp>
        <p:nvSpPr>
          <p:cNvPr id="19" name="Shape 17"/>
          <p:cNvSpPr/>
          <p:nvPr/>
        </p:nvSpPr>
        <p:spPr>
          <a:xfrm>
            <a:off x="9848088" y="905256"/>
            <a:ext cx="173736" cy="173736"/>
          </a:xfrm>
          <a:prstGeom prst="rect">
            <a:avLst/>
          </a:prstGeom>
          <a:solidFill>
            <a:srgbClr val="1C3555"/>
          </a:solidFill>
          <a:ln/>
        </p:spPr>
      </p:sp>
      <p:sp>
        <p:nvSpPr>
          <p:cNvPr id="20" name="Shape 18"/>
          <p:cNvSpPr/>
          <p:nvPr/>
        </p:nvSpPr>
        <p:spPr>
          <a:xfrm>
            <a:off x="10049256" y="905256"/>
            <a:ext cx="173736" cy="173736"/>
          </a:xfrm>
          <a:prstGeom prst="rect">
            <a:avLst/>
          </a:prstGeom>
          <a:solidFill>
            <a:srgbClr val="1C3555"/>
          </a:solidFill>
          <a:ln/>
        </p:spPr>
      </p:sp>
      <p:sp>
        <p:nvSpPr>
          <p:cNvPr id="21" name="Shape 19"/>
          <p:cNvSpPr/>
          <p:nvPr/>
        </p:nvSpPr>
        <p:spPr>
          <a:xfrm>
            <a:off x="10250424" y="905256"/>
            <a:ext cx="173736" cy="173736"/>
          </a:xfrm>
          <a:prstGeom prst="rect">
            <a:avLst/>
          </a:prstGeom>
          <a:solidFill>
            <a:srgbClr val="F2A93B"/>
          </a:solidFill>
          <a:ln/>
        </p:spPr>
      </p:sp>
      <p:sp>
        <p:nvSpPr>
          <p:cNvPr id="22" name="Shape 20"/>
          <p:cNvSpPr/>
          <p:nvPr/>
        </p:nvSpPr>
        <p:spPr>
          <a:xfrm>
            <a:off x="10451592" y="905256"/>
            <a:ext cx="173736" cy="173736"/>
          </a:xfrm>
          <a:prstGeom prst="rect">
            <a:avLst/>
          </a:prstGeom>
          <a:solidFill>
            <a:srgbClr val="1C3555"/>
          </a:solidFill>
          <a:ln/>
        </p:spPr>
      </p:sp>
      <p:sp>
        <p:nvSpPr>
          <p:cNvPr id="23" name="Shape 21"/>
          <p:cNvSpPr/>
          <p:nvPr/>
        </p:nvSpPr>
        <p:spPr>
          <a:xfrm>
            <a:off x="10652760" y="905256"/>
            <a:ext cx="173736" cy="173736"/>
          </a:xfrm>
          <a:prstGeom prst="rect">
            <a:avLst/>
          </a:prstGeom>
          <a:solidFill>
            <a:srgbClr val="2FB8CC"/>
          </a:solidFill>
          <a:ln/>
        </p:spPr>
      </p:sp>
      <p:sp>
        <p:nvSpPr>
          <p:cNvPr id="24" name="Shape 22"/>
          <p:cNvSpPr/>
          <p:nvPr/>
        </p:nvSpPr>
        <p:spPr>
          <a:xfrm>
            <a:off x="10853928" y="905256"/>
            <a:ext cx="173736" cy="173736"/>
          </a:xfrm>
          <a:prstGeom prst="rect">
            <a:avLst/>
          </a:prstGeom>
          <a:solidFill>
            <a:srgbClr val="1C3555"/>
          </a:solidFill>
          <a:ln/>
        </p:spPr>
      </p:sp>
      <p:sp>
        <p:nvSpPr>
          <p:cNvPr id="25" name="Shape 23"/>
          <p:cNvSpPr/>
          <p:nvPr/>
        </p:nvSpPr>
        <p:spPr>
          <a:xfrm>
            <a:off x="11055096" y="905256"/>
            <a:ext cx="173736" cy="173736"/>
          </a:xfrm>
          <a:prstGeom prst="rect">
            <a:avLst/>
          </a:prstGeom>
          <a:solidFill>
            <a:srgbClr val="1C3555"/>
          </a:solidFill>
          <a:ln/>
        </p:spPr>
      </p:sp>
      <p:sp>
        <p:nvSpPr>
          <p:cNvPr id="26" name="Shape 24"/>
          <p:cNvSpPr/>
          <p:nvPr/>
        </p:nvSpPr>
        <p:spPr>
          <a:xfrm>
            <a:off x="9646920" y="1106424"/>
            <a:ext cx="173736" cy="173736"/>
          </a:xfrm>
          <a:prstGeom prst="rect">
            <a:avLst/>
          </a:prstGeom>
          <a:solidFill>
            <a:srgbClr val="1C3555"/>
          </a:solidFill>
          <a:ln/>
        </p:spPr>
      </p:sp>
      <p:sp>
        <p:nvSpPr>
          <p:cNvPr id="27" name="Shape 25"/>
          <p:cNvSpPr/>
          <p:nvPr/>
        </p:nvSpPr>
        <p:spPr>
          <a:xfrm>
            <a:off x="9848088" y="1106424"/>
            <a:ext cx="173736" cy="173736"/>
          </a:xfrm>
          <a:prstGeom prst="rect">
            <a:avLst/>
          </a:prstGeom>
          <a:solidFill>
            <a:srgbClr val="1C3555"/>
          </a:solidFill>
          <a:ln/>
        </p:spPr>
      </p:sp>
      <p:sp>
        <p:nvSpPr>
          <p:cNvPr id="28" name="Shape 26"/>
          <p:cNvSpPr/>
          <p:nvPr/>
        </p:nvSpPr>
        <p:spPr>
          <a:xfrm>
            <a:off x="10049256" y="1106424"/>
            <a:ext cx="173736" cy="173736"/>
          </a:xfrm>
          <a:prstGeom prst="rect">
            <a:avLst/>
          </a:prstGeom>
          <a:solidFill>
            <a:srgbClr val="F2A93B"/>
          </a:solidFill>
          <a:ln/>
        </p:spPr>
      </p:sp>
      <p:sp>
        <p:nvSpPr>
          <p:cNvPr id="29" name="Shape 27"/>
          <p:cNvSpPr/>
          <p:nvPr/>
        </p:nvSpPr>
        <p:spPr>
          <a:xfrm>
            <a:off x="10250424" y="1106424"/>
            <a:ext cx="173736" cy="173736"/>
          </a:xfrm>
          <a:prstGeom prst="rect">
            <a:avLst/>
          </a:prstGeom>
          <a:solidFill>
            <a:srgbClr val="1C3555"/>
          </a:solidFill>
          <a:ln/>
        </p:spPr>
      </p:sp>
      <p:sp>
        <p:nvSpPr>
          <p:cNvPr id="30" name="Shape 28"/>
          <p:cNvSpPr/>
          <p:nvPr/>
        </p:nvSpPr>
        <p:spPr>
          <a:xfrm>
            <a:off x="10451592" y="1106424"/>
            <a:ext cx="173736" cy="173736"/>
          </a:xfrm>
          <a:prstGeom prst="rect">
            <a:avLst/>
          </a:prstGeom>
          <a:solidFill>
            <a:srgbClr val="2FB8CC"/>
          </a:solidFill>
          <a:ln/>
        </p:spPr>
      </p:sp>
      <p:sp>
        <p:nvSpPr>
          <p:cNvPr id="31" name="Shape 29"/>
          <p:cNvSpPr/>
          <p:nvPr/>
        </p:nvSpPr>
        <p:spPr>
          <a:xfrm>
            <a:off x="10652760" y="1106424"/>
            <a:ext cx="173736" cy="173736"/>
          </a:xfrm>
          <a:prstGeom prst="rect">
            <a:avLst/>
          </a:prstGeom>
          <a:solidFill>
            <a:srgbClr val="1C3555"/>
          </a:solidFill>
          <a:ln/>
        </p:spPr>
      </p:sp>
      <p:sp>
        <p:nvSpPr>
          <p:cNvPr id="32" name="Shape 30"/>
          <p:cNvSpPr/>
          <p:nvPr/>
        </p:nvSpPr>
        <p:spPr>
          <a:xfrm>
            <a:off x="10853928" y="1106424"/>
            <a:ext cx="173736" cy="173736"/>
          </a:xfrm>
          <a:prstGeom prst="rect">
            <a:avLst/>
          </a:prstGeom>
          <a:solidFill>
            <a:srgbClr val="1C3555"/>
          </a:solidFill>
          <a:ln/>
        </p:spPr>
      </p:sp>
      <p:sp>
        <p:nvSpPr>
          <p:cNvPr id="33" name="Shape 31"/>
          <p:cNvSpPr/>
          <p:nvPr/>
        </p:nvSpPr>
        <p:spPr>
          <a:xfrm>
            <a:off x="11055096" y="1106424"/>
            <a:ext cx="173736" cy="173736"/>
          </a:xfrm>
          <a:prstGeom prst="rect">
            <a:avLst/>
          </a:prstGeom>
          <a:solidFill>
            <a:srgbClr val="F2A93B"/>
          </a:solidFill>
          <a:ln/>
        </p:spPr>
      </p:sp>
      <p:sp>
        <p:nvSpPr>
          <p:cNvPr id="34" name="Shape 32"/>
          <p:cNvSpPr/>
          <p:nvPr/>
        </p:nvSpPr>
        <p:spPr>
          <a:xfrm>
            <a:off x="9646920" y="1307592"/>
            <a:ext cx="173736" cy="173736"/>
          </a:xfrm>
          <a:prstGeom prst="rect">
            <a:avLst/>
          </a:prstGeom>
          <a:solidFill>
            <a:srgbClr val="1C3555"/>
          </a:solidFill>
          <a:ln/>
        </p:spPr>
      </p:sp>
      <p:sp>
        <p:nvSpPr>
          <p:cNvPr id="35" name="Shape 33"/>
          <p:cNvSpPr/>
          <p:nvPr/>
        </p:nvSpPr>
        <p:spPr>
          <a:xfrm>
            <a:off x="9848088" y="1307592"/>
            <a:ext cx="173736" cy="173736"/>
          </a:xfrm>
          <a:prstGeom prst="rect">
            <a:avLst/>
          </a:prstGeom>
          <a:solidFill>
            <a:srgbClr val="F2A93B"/>
          </a:solidFill>
          <a:ln/>
        </p:spPr>
      </p:sp>
      <p:sp>
        <p:nvSpPr>
          <p:cNvPr id="36" name="Shape 34"/>
          <p:cNvSpPr/>
          <p:nvPr/>
        </p:nvSpPr>
        <p:spPr>
          <a:xfrm>
            <a:off x="10049256" y="1307592"/>
            <a:ext cx="173736" cy="173736"/>
          </a:xfrm>
          <a:prstGeom prst="rect">
            <a:avLst/>
          </a:prstGeom>
          <a:solidFill>
            <a:srgbClr val="1C3555"/>
          </a:solidFill>
          <a:ln/>
        </p:spPr>
      </p:sp>
      <p:sp>
        <p:nvSpPr>
          <p:cNvPr id="37" name="Shape 35"/>
          <p:cNvSpPr/>
          <p:nvPr/>
        </p:nvSpPr>
        <p:spPr>
          <a:xfrm>
            <a:off x="10250424" y="1307592"/>
            <a:ext cx="173736" cy="173736"/>
          </a:xfrm>
          <a:prstGeom prst="rect">
            <a:avLst/>
          </a:prstGeom>
          <a:solidFill>
            <a:srgbClr val="2FB8CC"/>
          </a:solidFill>
          <a:ln/>
        </p:spPr>
      </p:sp>
      <p:sp>
        <p:nvSpPr>
          <p:cNvPr id="38" name="Shape 36"/>
          <p:cNvSpPr/>
          <p:nvPr/>
        </p:nvSpPr>
        <p:spPr>
          <a:xfrm>
            <a:off x="10451592" y="1307592"/>
            <a:ext cx="173736" cy="173736"/>
          </a:xfrm>
          <a:prstGeom prst="rect">
            <a:avLst/>
          </a:prstGeom>
          <a:solidFill>
            <a:srgbClr val="1C3555"/>
          </a:solidFill>
          <a:ln/>
        </p:spPr>
      </p:sp>
      <p:sp>
        <p:nvSpPr>
          <p:cNvPr id="39" name="Shape 37"/>
          <p:cNvSpPr/>
          <p:nvPr/>
        </p:nvSpPr>
        <p:spPr>
          <a:xfrm>
            <a:off x="10652760" y="1307592"/>
            <a:ext cx="173736" cy="173736"/>
          </a:xfrm>
          <a:prstGeom prst="rect">
            <a:avLst/>
          </a:prstGeom>
          <a:solidFill>
            <a:srgbClr val="1C3555"/>
          </a:solidFill>
          <a:ln/>
        </p:spPr>
      </p:sp>
      <p:sp>
        <p:nvSpPr>
          <p:cNvPr id="40" name="Shape 38"/>
          <p:cNvSpPr/>
          <p:nvPr/>
        </p:nvSpPr>
        <p:spPr>
          <a:xfrm>
            <a:off x="10853928" y="1307592"/>
            <a:ext cx="173736" cy="173736"/>
          </a:xfrm>
          <a:prstGeom prst="rect">
            <a:avLst/>
          </a:prstGeom>
          <a:solidFill>
            <a:srgbClr val="F2A93B"/>
          </a:solidFill>
          <a:ln/>
        </p:spPr>
      </p:sp>
      <p:sp>
        <p:nvSpPr>
          <p:cNvPr id="41" name="Shape 39"/>
          <p:cNvSpPr/>
          <p:nvPr/>
        </p:nvSpPr>
        <p:spPr>
          <a:xfrm>
            <a:off x="11055096" y="1307592"/>
            <a:ext cx="173736" cy="173736"/>
          </a:xfrm>
          <a:prstGeom prst="rect">
            <a:avLst/>
          </a:prstGeom>
          <a:solidFill>
            <a:srgbClr val="1C3555"/>
          </a:solidFill>
          <a:ln/>
        </p:spPr>
      </p:sp>
      <p:sp>
        <p:nvSpPr>
          <p:cNvPr id="42" name="Shape 40"/>
          <p:cNvSpPr/>
          <p:nvPr/>
        </p:nvSpPr>
        <p:spPr>
          <a:xfrm>
            <a:off x="9646920" y="1508760"/>
            <a:ext cx="173736" cy="173736"/>
          </a:xfrm>
          <a:prstGeom prst="rect">
            <a:avLst/>
          </a:prstGeom>
          <a:solidFill>
            <a:srgbClr val="F2A93B"/>
          </a:solidFill>
          <a:ln/>
        </p:spPr>
      </p:sp>
      <p:sp>
        <p:nvSpPr>
          <p:cNvPr id="43" name="Shape 41"/>
          <p:cNvSpPr/>
          <p:nvPr/>
        </p:nvSpPr>
        <p:spPr>
          <a:xfrm>
            <a:off x="9848088" y="1508760"/>
            <a:ext cx="173736" cy="173736"/>
          </a:xfrm>
          <a:prstGeom prst="rect">
            <a:avLst/>
          </a:prstGeom>
          <a:solidFill>
            <a:srgbClr val="1C3555"/>
          </a:solidFill>
          <a:ln/>
        </p:spPr>
      </p:sp>
      <p:sp>
        <p:nvSpPr>
          <p:cNvPr id="44" name="Shape 42"/>
          <p:cNvSpPr/>
          <p:nvPr/>
        </p:nvSpPr>
        <p:spPr>
          <a:xfrm>
            <a:off x="10049256" y="1508760"/>
            <a:ext cx="173736" cy="173736"/>
          </a:xfrm>
          <a:prstGeom prst="rect">
            <a:avLst/>
          </a:prstGeom>
          <a:solidFill>
            <a:srgbClr val="2FB8CC"/>
          </a:solidFill>
          <a:ln/>
        </p:spPr>
      </p:sp>
      <p:sp>
        <p:nvSpPr>
          <p:cNvPr id="45" name="Shape 43"/>
          <p:cNvSpPr/>
          <p:nvPr/>
        </p:nvSpPr>
        <p:spPr>
          <a:xfrm>
            <a:off x="10250424" y="1508760"/>
            <a:ext cx="173736" cy="173736"/>
          </a:xfrm>
          <a:prstGeom prst="rect">
            <a:avLst/>
          </a:prstGeom>
          <a:solidFill>
            <a:srgbClr val="1C3555"/>
          </a:solidFill>
          <a:ln/>
        </p:spPr>
      </p:sp>
      <p:sp>
        <p:nvSpPr>
          <p:cNvPr id="46" name="Shape 44"/>
          <p:cNvSpPr/>
          <p:nvPr/>
        </p:nvSpPr>
        <p:spPr>
          <a:xfrm>
            <a:off x="10451592" y="1508760"/>
            <a:ext cx="173736" cy="173736"/>
          </a:xfrm>
          <a:prstGeom prst="rect">
            <a:avLst/>
          </a:prstGeom>
          <a:solidFill>
            <a:srgbClr val="1C3555"/>
          </a:solidFill>
          <a:ln/>
        </p:spPr>
      </p:sp>
      <p:sp>
        <p:nvSpPr>
          <p:cNvPr id="47" name="Shape 45"/>
          <p:cNvSpPr/>
          <p:nvPr/>
        </p:nvSpPr>
        <p:spPr>
          <a:xfrm>
            <a:off x="10652760" y="1508760"/>
            <a:ext cx="173736" cy="173736"/>
          </a:xfrm>
          <a:prstGeom prst="rect">
            <a:avLst/>
          </a:prstGeom>
          <a:solidFill>
            <a:srgbClr val="F2A93B"/>
          </a:solidFill>
          <a:ln/>
        </p:spPr>
      </p:sp>
      <p:sp>
        <p:nvSpPr>
          <p:cNvPr id="48" name="Shape 46"/>
          <p:cNvSpPr/>
          <p:nvPr/>
        </p:nvSpPr>
        <p:spPr>
          <a:xfrm>
            <a:off x="10853928" y="1508760"/>
            <a:ext cx="173736" cy="173736"/>
          </a:xfrm>
          <a:prstGeom prst="rect">
            <a:avLst/>
          </a:prstGeom>
          <a:solidFill>
            <a:srgbClr val="1C3555"/>
          </a:solidFill>
          <a:ln/>
        </p:spPr>
      </p:sp>
      <p:sp>
        <p:nvSpPr>
          <p:cNvPr id="49" name="Shape 47"/>
          <p:cNvSpPr/>
          <p:nvPr/>
        </p:nvSpPr>
        <p:spPr>
          <a:xfrm>
            <a:off x="11055096" y="1508760"/>
            <a:ext cx="173736" cy="173736"/>
          </a:xfrm>
          <a:prstGeom prst="rect">
            <a:avLst/>
          </a:prstGeom>
          <a:solidFill>
            <a:srgbClr val="1C3555"/>
          </a:solidFill>
          <a:ln/>
        </p:spPr>
      </p:sp>
      <p:sp>
        <p:nvSpPr>
          <p:cNvPr id="50" name="Shape 48"/>
          <p:cNvSpPr/>
          <p:nvPr/>
        </p:nvSpPr>
        <p:spPr>
          <a:xfrm>
            <a:off x="9646920" y="1709928"/>
            <a:ext cx="173736" cy="173736"/>
          </a:xfrm>
          <a:prstGeom prst="rect">
            <a:avLst/>
          </a:prstGeom>
          <a:solidFill>
            <a:srgbClr val="1C3555"/>
          </a:solidFill>
          <a:ln/>
        </p:spPr>
      </p:sp>
      <p:sp>
        <p:nvSpPr>
          <p:cNvPr id="51" name="Shape 49"/>
          <p:cNvSpPr/>
          <p:nvPr/>
        </p:nvSpPr>
        <p:spPr>
          <a:xfrm>
            <a:off x="9848088" y="1709928"/>
            <a:ext cx="173736" cy="173736"/>
          </a:xfrm>
          <a:prstGeom prst="rect">
            <a:avLst/>
          </a:prstGeom>
          <a:solidFill>
            <a:srgbClr val="2FB8CC"/>
          </a:solidFill>
          <a:ln/>
        </p:spPr>
      </p:sp>
      <p:sp>
        <p:nvSpPr>
          <p:cNvPr id="52" name="Shape 50"/>
          <p:cNvSpPr/>
          <p:nvPr/>
        </p:nvSpPr>
        <p:spPr>
          <a:xfrm>
            <a:off x="10049256" y="1709928"/>
            <a:ext cx="173736" cy="173736"/>
          </a:xfrm>
          <a:prstGeom prst="rect">
            <a:avLst/>
          </a:prstGeom>
          <a:solidFill>
            <a:srgbClr val="1C3555"/>
          </a:solidFill>
          <a:ln/>
        </p:spPr>
      </p:sp>
      <p:sp>
        <p:nvSpPr>
          <p:cNvPr id="53" name="Shape 51"/>
          <p:cNvSpPr/>
          <p:nvPr/>
        </p:nvSpPr>
        <p:spPr>
          <a:xfrm>
            <a:off x="10250424" y="1709928"/>
            <a:ext cx="173736" cy="173736"/>
          </a:xfrm>
          <a:prstGeom prst="rect">
            <a:avLst/>
          </a:prstGeom>
          <a:solidFill>
            <a:srgbClr val="1C3555"/>
          </a:solidFill>
          <a:ln/>
        </p:spPr>
      </p:sp>
      <p:sp>
        <p:nvSpPr>
          <p:cNvPr id="54" name="Shape 52"/>
          <p:cNvSpPr/>
          <p:nvPr/>
        </p:nvSpPr>
        <p:spPr>
          <a:xfrm>
            <a:off x="10451592" y="1709928"/>
            <a:ext cx="173736" cy="173736"/>
          </a:xfrm>
          <a:prstGeom prst="rect">
            <a:avLst/>
          </a:prstGeom>
          <a:solidFill>
            <a:srgbClr val="F2A93B"/>
          </a:solidFill>
          <a:ln/>
        </p:spPr>
      </p:sp>
      <p:sp>
        <p:nvSpPr>
          <p:cNvPr id="55" name="Shape 53"/>
          <p:cNvSpPr/>
          <p:nvPr/>
        </p:nvSpPr>
        <p:spPr>
          <a:xfrm>
            <a:off x="10652760" y="1709928"/>
            <a:ext cx="173736" cy="173736"/>
          </a:xfrm>
          <a:prstGeom prst="rect">
            <a:avLst/>
          </a:prstGeom>
          <a:solidFill>
            <a:srgbClr val="1C3555"/>
          </a:solidFill>
          <a:ln/>
        </p:spPr>
      </p:sp>
      <p:sp>
        <p:nvSpPr>
          <p:cNvPr id="56" name="Shape 54"/>
          <p:cNvSpPr/>
          <p:nvPr/>
        </p:nvSpPr>
        <p:spPr>
          <a:xfrm>
            <a:off x="10853928" y="1709928"/>
            <a:ext cx="173736" cy="173736"/>
          </a:xfrm>
          <a:prstGeom prst="rect">
            <a:avLst/>
          </a:prstGeom>
          <a:solidFill>
            <a:srgbClr val="1C3555"/>
          </a:solidFill>
          <a:ln/>
        </p:spPr>
      </p:sp>
      <p:sp>
        <p:nvSpPr>
          <p:cNvPr id="57" name="Shape 55"/>
          <p:cNvSpPr/>
          <p:nvPr/>
        </p:nvSpPr>
        <p:spPr>
          <a:xfrm>
            <a:off x="11055096" y="1709928"/>
            <a:ext cx="173736" cy="173736"/>
          </a:xfrm>
          <a:prstGeom prst="rect">
            <a:avLst/>
          </a:prstGeom>
          <a:solidFill>
            <a:srgbClr val="1C3555"/>
          </a:solidFill>
          <a:ln/>
        </p:spPr>
      </p:sp>
      <p:sp>
        <p:nvSpPr>
          <p:cNvPr id="58" name="Shape 56"/>
          <p:cNvSpPr/>
          <p:nvPr/>
        </p:nvSpPr>
        <p:spPr>
          <a:xfrm>
            <a:off x="9646920" y="1911096"/>
            <a:ext cx="173736" cy="173736"/>
          </a:xfrm>
          <a:prstGeom prst="rect">
            <a:avLst/>
          </a:prstGeom>
          <a:solidFill>
            <a:srgbClr val="2FB8CC"/>
          </a:solidFill>
          <a:ln/>
        </p:spPr>
      </p:sp>
      <p:sp>
        <p:nvSpPr>
          <p:cNvPr id="59" name="Shape 57"/>
          <p:cNvSpPr/>
          <p:nvPr/>
        </p:nvSpPr>
        <p:spPr>
          <a:xfrm>
            <a:off x="9848088" y="1911096"/>
            <a:ext cx="173736" cy="173736"/>
          </a:xfrm>
          <a:prstGeom prst="rect">
            <a:avLst/>
          </a:prstGeom>
          <a:solidFill>
            <a:srgbClr val="1C3555"/>
          </a:solidFill>
          <a:ln/>
        </p:spPr>
      </p:sp>
      <p:sp>
        <p:nvSpPr>
          <p:cNvPr id="60" name="Shape 58"/>
          <p:cNvSpPr/>
          <p:nvPr/>
        </p:nvSpPr>
        <p:spPr>
          <a:xfrm>
            <a:off x="10049256" y="1911096"/>
            <a:ext cx="173736" cy="173736"/>
          </a:xfrm>
          <a:prstGeom prst="rect">
            <a:avLst/>
          </a:prstGeom>
          <a:solidFill>
            <a:srgbClr val="1C3555"/>
          </a:solidFill>
          <a:ln/>
        </p:spPr>
      </p:sp>
      <p:sp>
        <p:nvSpPr>
          <p:cNvPr id="61" name="Shape 59"/>
          <p:cNvSpPr/>
          <p:nvPr/>
        </p:nvSpPr>
        <p:spPr>
          <a:xfrm>
            <a:off x="10250424" y="1911096"/>
            <a:ext cx="173736" cy="173736"/>
          </a:xfrm>
          <a:prstGeom prst="rect">
            <a:avLst/>
          </a:prstGeom>
          <a:solidFill>
            <a:srgbClr val="F2A93B"/>
          </a:solidFill>
          <a:ln/>
        </p:spPr>
      </p:sp>
      <p:sp>
        <p:nvSpPr>
          <p:cNvPr id="62" name="Shape 60"/>
          <p:cNvSpPr/>
          <p:nvPr/>
        </p:nvSpPr>
        <p:spPr>
          <a:xfrm>
            <a:off x="10451592" y="1911096"/>
            <a:ext cx="173736" cy="173736"/>
          </a:xfrm>
          <a:prstGeom prst="rect">
            <a:avLst/>
          </a:prstGeom>
          <a:solidFill>
            <a:srgbClr val="1C3555"/>
          </a:solidFill>
          <a:ln/>
        </p:spPr>
      </p:sp>
      <p:sp>
        <p:nvSpPr>
          <p:cNvPr id="63" name="Shape 61"/>
          <p:cNvSpPr/>
          <p:nvPr/>
        </p:nvSpPr>
        <p:spPr>
          <a:xfrm>
            <a:off x="10652760" y="1911096"/>
            <a:ext cx="173736" cy="173736"/>
          </a:xfrm>
          <a:prstGeom prst="rect">
            <a:avLst/>
          </a:prstGeom>
          <a:solidFill>
            <a:srgbClr val="1C3555"/>
          </a:solidFill>
          <a:ln/>
        </p:spPr>
      </p:sp>
      <p:sp>
        <p:nvSpPr>
          <p:cNvPr id="64" name="Shape 62"/>
          <p:cNvSpPr/>
          <p:nvPr/>
        </p:nvSpPr>
        <p:spPr>
          <a:xfrm>
            <a:off x="10853928" y="1911096"/>
            <a:ext cx="173736" cy="173736"/>
          </a:xfrm>
          <a:prstGeom prst="rect">
            <a:avLst/>
          </a:prstGeom>
          <a:solidFill>
            <a:srgbClr val="1C3555"/>
          </a:solidFill>
          <a:ln/>
        </p:spPr>
      </p:sp>
      <p:sp>
        <p:nvSpPr>
          <p:cNvPr id="65" name="Shape 63"/>
          <p:cNvSpPr/>
          <p:nvPr/>
        </p:nvSpPr>
        <p:spPr>
          <a:xfrm>
            <a:off x="11055096" y="1911096"/>
            <a:ext cx="173736" cy="173736"/>
          </a:xfrm>
          <a:prstGeom prst="rect">
            <a:avLst/>
          </a:prstGeom>
          <a:solidFill>
            <a:srgbClr val="2FB8CC"/>
          </a:solidFill>
          <a:ln/>
        </p:spPr>
      </p:sp>
      <p:sp>
        <p:nvSpPr>
          <p:cNvPr id="66" name="Text 64"/>
          <p:cNvSpPr/>
          <p:nvPr/>
        </p:nvSpPr>
        <p:spPr>
          <a:xfrm>
            <a:off x="640080" y="1280160"/>
            <a:ext cx="5486400" cy="365760"/>
          </a:xfrm>
          <a:prstGeom prst="rect">
            <a:avLst/>
          </a:prstGeom>
          <a:noFill/>
          <a:ln/>
        </p:spPr>
        <p:txBody>
          <a:bodyPr wrap="square" rtlCol="0" anchor="ctr"/>
          <a:lstStyle/>
          <a:p>
            <a:pPr indent="0" marL="0">
              <a:buNone/>
            </a:pPr>
            <a:r>
              <a:rPr lang="en-US" sz="1300" b="1" spc="300" kern="0" dirty="0">
                <a:solidFill>
                  <a:srgbClr val="2FB8CC"/>
                </a:solidFill>
                <a:latin typeface="Calibri" pitchFamily="34" charset="0"/>
                <a:ea typeface="Calibri" pitchFamily="34" charset="-122"/>
                <a:cs typeface="Calibri" pitchFamily="34" charset="-120"/>
              </a:rPr>
              <a:t>INTRODUCTION</a:t>
            </a:r>
            <a:endParaRPr lang="en-US" sz="1300" dirty="0"/>
          </a:p>
        </p:txBody>
      </p:sp>
      <p:sp>
        <p:nvSpPr>
          <p:cNvPr id="67" name="Text 65"/>
          <p:cNvSpPr/>
          <p:nvPr/>
        </p:nvSpPr>
        <p:spPr>
          <a:xfrm>
            <a:off x="640080" y="1645920"/>
            <a:ext cx="9601200" cy="1005840"/>
          </a:xfrm>
          <a:prstGeom prst="rect">
            <a:avLst/>
          </a:prstGeom>
          <a:noFill/>
          <a:ln/>
        </p:spPr>
        <p:txBody>
          <a:bodyPr wrap="square" rtlCol="0" anchor="ctr"/>
          <a:lstStyle/>
          <a:p>
            <a:pPr indent="0" marL="0">
              <a:buNone/>
            </a:pPr>
            <a:r>
              <a:rPr lang="en-US" sz="4600" b="1" dirty="0">
                <a:solidFill>
                  <a:srgbClr val="F2A93B"/>
                </a:solidFill>
                <a:latin typeface="Cambria" pitchFamily="34" charset="0"/>
                <a:ea typeface="Cambria" pitchFamily="34" charset="-122"/>
                <a:cs typeface="Cambria" pitchFamily="34" charset="-120"/>
              </a:rPr>
              <a:t>CCD </a:t>
            </a:r>
            <a:pPr indent="0" marL="0">
              <a:buNone/>
            </a:pPr>
            <a:r>
              <a:rPr lang="en-US" sz="4600" b="1" dirty="0">
                <a:solidFill>
                  <a:srgbClr val="FFFFFF"/>
                </a:solidFill>
                <a:latin typeface="Cambria" pitchFamily="34" charset="0"/>
                <a:ea typeface="Cambria" pitchFamily="34" charset="-122"/>
                <a:cs typeface="Cambria" pitchFamily="34" charset="-120"/>
              </a:rPr>
              <a:t>vs </a:t>
            </a:r>
            <a:pPr indent="0" marL="0">
              <a:buNone/>
            </a:pPr>
            <a:r>
              <a:rPr lang="en-US" sz="4600" b="1" dirty="0">
                <a:solidFill>
                  <a:srgbClr val="2FB8CC"/>
                </a:solidFill>
                <a:latin typeface="Cambria" pitchFamily="34" charset="0"/>
                <a:ea typeface="Cambria" pitchFamily="34" charset="-122"/>
                <a:cs typeface="Cambria" pitchFamily="34" charset="-120"/>
              </a:rPr>
              <a:t>CMOS</a:t>
            </a:r>
            <a:endParaRPr lang="en-US" sz="4600" dirty="0"/>
          </a:p>
        </p:txBody>
      </p:sp>
      <p:sp>
        <p:nvSpPr>
          <p:cNvPr id="68" name="Text 66"/>
          <p:cNvSpPr/>
          <p:nvPr/>
        </p:nvSpPr>
        <p:spPr>
          <a:xfrm>
            <a:off x="640080" y="2606040"/>
            <a:ext cx="9052560" cy="960120"/>
          </a:xfrm>
          <a:prstGeom prst="rect">
            <a:avLst/>
          </a:prstGeom>
          <a:noFill/>
          <a:ln/>
        </p:spPr>
        <p:txBody>
          <a:bodyPr wrap="square" rtlCol="0" anchor="ctr"/>
          <a:lstStyle/>
          <a:p>
            <a:pPr indent="0" marL="0">
              <a:lnSpc>
                <a:spcPct val="130000"/>
              </a:lnSpc>
              <a:buNone/>
            </a:pPr>
            <a:r>
              <a:rPr lang="en-US" sz="1300" dirty="0">
                <a:solidFill>
                  <a:srgbClr val="C7D3E0"/>
                </a:solidFill>
                <a:latin typeface="Calibri" pitchFamily="34" charset="0"/>
                <a:ea typeface="Calibri" pitchFamily="34" charset="-122"/>
                <a:cs typeface="Calibri" pitchFamily="34" charset="-120"/>
              </a:rPr>
              <a:t>Compare CCD and CMOS image sensors with technical accuracy, defining engineering trade-offs, using visual comparison tools, and presenting findings in a structured and professional format.</a:t>
            </a:r>
            <a:endParaRPr lang="en-US" sz="1300" dirty="0"/>
          </a:p>
        </p:txBody>
      </p:sp>
      <p:sp>
        <p:nvSpPr>
          <p:cNvPr id="69" name="Shape 67"/>
          <p:cNvSpPr/>
          <p:nvPr/>
        </p:nvSpPr>
        <p:spPr>
          <a:xfrm>
            <a:off x="640080" y="3794760"/>
            <a:ext cx="2286000" cy="457200"/>
          </a:xfrm>
          <a:prstGeom prst="roundRect">
            <a:avLst>
              <a:gd name="adj" fmla="val 16000"/>
            </a:avLst>
          </a:prstGeom>
          <a:solidFill>
            <a:srgbClr val="132C4C"/>
          </a:solidFill>
          <a:ln w="12700">
            <a:solidFill>
              <a:srgbClr val="F2A93B"/>
            </a:solidFill>
            <a:prstDash val="solid"/>
          </a:ln>
        </p:spPr>
      </p:sp>
      <p:sp>
        <p:nvSpPr>
          <p:cNvPr id="70" name="Text 68"/>
          <p:cNvSpPr/>
          <p:nvPr/>
        </p:nvSpPr>
        <p:spPr>
          <a:xfrm>
            <a:off x="640080" y="3794760"/>
            <a:ext cx="2286000" cy="457200"/>
          </a:xfrm>
          <a:prstGeom prst="rect">
            <a:avLst/>
          </a:prstGeom>
          <a:noFill/>
          <a:ln/>
        </p:spPr>
        <p:txBody>
          <a:bodyPr wrap="square" rtlCol="0" anchor="ctr"/>
          <a:lstStyle/>
          <a:p>
            <a:pPr algn="ctr" indent="0" marL="0">
              <a:buNone/>
            </a:pPr>
            <a:r>
              <a:rPr lang="en-US" sz="1400" b="1" dirty="0">
                <a:solidFill>
                  <a:srgbClr val="F2A93B"/>
                </a:solidFill>
                <a:latin typeface="Calibri" pitchFamily="34" charset="0"/>
                <a:ea typeface="Calibri" pitchFamily="34" charset="-122"/>
                <a:cs typeface="Calibri" pitchFamily="34" charset="-120"/>
              </a:rPr>
              <a:t>CCD</a:t>
            </a:r>
            <a:endParaRPr lang="en-US" sz="1400" dirty="0"/>
          </a:p>
        </p:txBody>
      </p:sp>
      <p:sp>
        <p:nvSpPr>
          <p:cNvPr id="71" name="Shape 69"/>
          <p:cNvSpPr/>
          <p:nvPr/>
        </p:nvSpPr>
        <p:spPr>
          <a:xfrm>
            <a:off x="3063240" y="3794760"/>
            <a:ext cx="2286000" cy="457200"/>
          </a:xfrm>
          <a:prstGeom prst="roundRect">
            <a:avLst>
              <a:gd name="adj" fmla="val 16000"/>
            </a:avLst>
          </a:prstGeom>
          <a:solidFill>
            <a:srgbClr val="132C4C"/>
          </a:solidFill>
          <a:ln w="12700">
            <a:solidFill>
              <a:srgbClr val="2FB8CC"/>
            </a:solidFill>
            <a:prstDash val="solid"/>
          </a:ln>
        </p:spPr>
      </p:sp>
      <p:sp>
        <p:nvSpPr>
          <p:cNvPr id="72" name="Text 70"/>
          <p:cNvSpPr/>
          <p:nvPr/>
        </p:nvSpPr>
        <p:spPr>
          <a:xfrm>
            <a:off x="3063240" y="3794760"/>
            <a:ext cx="2286000" cy="457200"/>
          </a:xfrm>
          <a:prstGeom prst="rect">
            <a:avLst/>
          </a:prstGeom>
          <a:noFill/>
          <a:ln/>
        </p:spPr>
        <p:txBody>
          <a:bodyPr wrap="square" rtlCol="0" anchor="ctr"/>
          <a:lstStyle/>
          <a:p>
            <a:pPr algn="ctr" indent="0" marL="0">
              <a:buNone/>
            </a:pPr>
            <a:r>
              <a:rPr lang="en-US" sz="1400" b="1" dirty="0">
                <a:solidFill>
                  <a:srgbClr val="2FB8CC"/>
                </a:solidFill>
                <a:latin typeface="Calibri" pitchFamily="34" charset="0"/>
                <a:ea typeface="Calibri" pitchFamily="34" charset="-122"/>
                <a:cs typeface="Calibri" pitchFamily="34" charset="-120"/>
              </a:rPr>
              <a:t>CMOS</a:t>
            </a:r>
            <a:endParaRPr lang="en-US" sz="1400" dirty="0"/>
          </a:p>
        </p:txBody>
      </p:sp>
      <p:sp>
        <p:nvSpPr>
          <p:cNvPr id="73" name="Text 71"/>
          <p:cNvSpPr/>
          <p:nvPr/>
        </p:nvSpPr>
        <p:spPr>
          <a:xfrm>
            <a:off x="640080" y="4434840"/>
            <a:ext cx="8961120" cy="1371600"/>
          </a:xfrm>
          <a:prstGeom prst="rect">
            <a:avLst/>
          </a:prstGeom>
          <a:noFill/>
          <a:ln/>
        </p:spPr>
        <p:txBody>
          <a:bodyPr wrap="square" rtlCol="0" anchor="ctr"/>
          <a:lstStyle/>
          <a:p>
            <a:pPr marL="342900" indent="-342900">
              <a:lnSpc>
                <a:spcPct val="120000"/>
              </a:lnSpc>
              <a:spcAft>
                <a:spcPts val="1200"/>
              </a:spcAft>
              <a:buSzPct val="100000"/>
              <a:buChar char="•"/>
            </a:pPr>
            <a:r>
              <a:rPr lang="en-US" sz="1350" dirty="0">
                <a:solidFill>
                  <a:srgbClr val="E4EAF3"/>
                </a:solidFill>
                <a:latin typeface="Calibri" pitchFamily="34" charset="0"/>
                <a:ea typeface="Calibri" pitchFamily="34" charset="-122"/>
                <a:cs typeface="Calibri" pitchFamily="34" charset="-120"/>
              </a:rPr>
              <a:t>Every digital camera relies on an image sensor to convert light into an electrical signal</a:t>
            </a:r>
            <a:endParaRPr lang="en-US" sz="1350" dirty="0"/>
          </a:p>
          <a:p>
            <a:pPr marL="342900" indent="-342900">
              <a:lnSpc>
                <a:spcPct val="120000"/>
              </a:lnSpc>
              <a:spcAft>
                <a:spcPts val="1200"/>
              </a:spcAft>
              <a:buSzPct val="100000"/>
              <a:buChar char="•"/>
            </a:pPr>
            <a:r>
              <a:rPr lang="en-US" sz="1350" dirty="0">
                <a:solidFill>
                  <a:srgbClr val="E4EAF3"/>
                </a:solidFill>
                <a:latin typeface="Calibri" pitchFamily="34" charset="0"/>
                <a:ea typeface="Calibri" pitchFamily="34" charset="-122"/>
                <a:cs typeface="Calibri" pitchFamily="34" charset="-120"/>
              </a:rPr>
              <a:t>Choice of sensor directly affects image quality, speed, power consumption, and system cost</a:t>
            </a:r>
            <a:endParaRPr lang="en-US" sz="1350" dirty="0"/>
          </a:p>
        </p:txBody>
      </p:sp>
      <p:sp>
        <p:nvSpPr>
          <p:cNvPr id="74" name="Text 72"/>
          <p:cNvSpPr/>
          <p:nvPr/>
        </p:nvSpPr>
        <p:spPr>
          <a:xfrm>
            <a:off x="640080" y="6263640"/>
            <a:ext cx="7315200" cy="320040"/>
          </a:xfrm>
          <a:prstGeom prst="rect">
            <a:avLst/>
          </a:prstGeom>
          <a:noFill/>
          <a:ln/>
        </p:spPr>
        <p:txBody>
          <a:bodyPr wrap="square" rtlCol="0" anchor="ctr"/>
          <a:lstStyle/>
          <a:p>
            <a:pPr indent="0" marL="0">
              <a:buNone/>
            </a:pPr>
            <a:r>
              <a:rPr lang="en-US" sz="1100" i="1" dirty="0">
                <a:solidFill>
                  <a:srgbClr val="6E82A0"/>
                </a:solidFill>
                <a:latin typeface="Calibri" pitchFamily="34" charset="0"/>
                <a:ea typeface="Calibri" pitchFamily="34" charset="-122"/>
                <a:cs typeface="Calibri" pitchFamily="34" charset="-120"/>
              </a:rPr>
              <a:t>Technical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20240" cy="365760"/>
          </a:xfrm>
          <a:prstGeom prst="roundRect">
            <a:avLst>
              <a:gd name="adj" fmla="val 15000"/>
            </a:avLst>
          </a:prstGeom>
          <a:solidFill>
            <a:srgbClr val="0B1D33"/>
          </a:solidFill>
          <a:ln/>
        </p:spPr>
      </p:sp>
      <p:sp>
        <p:nvSpPr>
          <p:cNvPr id="3" name="Text 1"/>
          <p:cNvSpPr/>
          <p:nvPr/>
        </p:nvSpPr>
        <p:spPr>
          <a:xfrm>
            <a:off x="548640" y="411480"/>
            <a:ext cx="1920240" cy="365760"/>
          </a:xfrm>
          <a:prstGeom prst="rect">
            <a:avLst/>
          </a:prstGeom>
          <a:noFill/>
          <a:ln/>
        </p:spPr>
        <p:txBody>
          <a:bodyPr wrap="square" rtlCol="0" anchor="ctr"/>
          <a:lstStyle/>
          <a:p>
            <a:pPr algn="ctr" indent="0" marL="0">
              <a:buNone/>
            </a:pPr>
            <a:r>
              <a:rPr lang="en-US" sz="1100" b="1" spc="100" kern="0" dirty="0">
                <a:solidFill>
                  <a:srgbClr val="2FB8CC"/>
                </a:solidFill>
                <a:latin typeface="Calibri" pitchFamily="34" charset="0"/>
                <a:ea typeface="Calibri" pitchFamily="34" charset="-122"/>
                <a:cs typeface="Calibri" pitchFamily="34" charset="-120"/>
              </a:rPr>
              <a:t>AIM</a:t>
            </a:r>
            <a:endParaRPr lang="en-US" sz="1100" dirty="0"/>
          </a:p>
        </p:txBody>
      </p:sp>
      <p:sp>
        <p:nvSpPr>
          <p:cNvPr id="4" name="Text 2"/>
          <p:cNvSpPr/>
          <p:nvPr/>
        </p:nvSpPr>
        <p:spPr>
          <a:xfrm>
            <a:off x="548640" y="914400"/>
            <a:ext cx="10058400" cy="548640"/>
          </a:xfrm>
          <a:prstGeom prst="rect">
            <a:avLst/>
          </a:prstGeom>
          <a:noFill/>
          <a:ln/>
        </p:spPr>
        <p:txBody>
          <a:bodyPr wrap="square" rtlCol="0" anchor="ctr"/>
          <a:lstStyle/>
          <a:p>
            <a:pPr indent="0" marL="0">
              <a:buNone/>
            </a:pPr>
            <a:r>
              <a:rPr lang="en-US" sz="2800" b="1" dirty="0">
                <a:solidFill>
                  <a:srgbClr val="0B1D33"/>
                </a:solidFill>
                <a:latin typeface="Cambria" pitchFamily="34" charset="0"/>
                <a:ea typeface="Cambria" pitchFamily="34" charset="-122"/>
                <a:cs typeface="Cambria" pitchFamily="34" charset="-120"/>
              </a:rPr>
              <a:t>Purpose of This Comparison</a:t>
            </a:r>
            <a:endParaRPr lang="en-US" sz="2800" dirty="0"/>
          </a:p>
        </p:txBody>
      </p:sp>
      <p:sp>
        <p:nvSpPr>
          <p:cNvPr id="5" name="Shape 3"/>
          <p:cNvSpPr/>
          <p:nvPr/>
        </p:nvSpPr>
        <p:spPr>
          <a:xfrm>
            <a:off x="548640" y="1828800"/>
            <a:ext cx="11064240" cy="1920240"/>
          </a:xfrm>
          <a:prstGeom prst="roundRect">
            <a:avLst>
              <a:gd name="adj" fmla="val 4762"/>
            </a:avLst>
          </a:prstGeom>
          <a:solidFill>
            <a:srgbClr val="F6F8FA"/>
          </a:solidFill>
          <a:ln w="12700">
            <a:solidFill>
              <a:srgbClr val="DCE3EB"/>
            </a:solidFill>
            <a:prstDash val="solid"/>
          </a:ln>
        </p:spPr>
      </p:sp>
      <p:sp>
        <p:nvSpPr>
          <p:cNvPr id="6" name="Shape 4"/>
          <p:cNvSpPr/>
          <p:nvPr/>
        </p:nvSpPr>
        <p:spPr>
          <a:xfrm>
            <a:off x="548640" y="1828800"/>
            <a:ext cx="73152" cy="1920240"/>
          </a:xfrm>
          <a:prstGeom prst="rect">
            <a:avLst/>
          </a:prstGeom>
          <a:solidFill>
            <a:srgbClr val="2FB8CC"/>
          </a:solidFill>
          <a:ln/>
        </p:spPr>
      </p:sp>
      <p:sp>
        <p:nvSpPr>
          <p:cNvPr id="7" name="Text 5"/>
          <p:cNvSpPr/>
          <p:nvPr/>
        </p:nvSpPr>
        <p:spPr>
          <a:xfrm>
            <a:off x="960120" y="2057400"/>
            <a:ext cx="10332720" cy="1463040"/>
          </a:xfrm>
          <a:prstGeom prst="rect">
            <a:avLst/>
          </a:prstGeom>
          <a:noFill/>
          <a:ln/>
        </p:spPr>
        <p:txBody>
          <a:bodyPr wrap="square" rtlCol="0" anchor="ctr"/>
          <a:lstStyle/>
          <a:p>
            <a:pPr indent="0" marL="0">
              <a:lnSpc>
                <a:spcPct val="130000"/>
              </a:lnSpc>
              <a:buNone/>
            </a:pPr>
            <a:r>
              <a:rPr lang="en-US" sz="1700" i="1" dirty="0">
                <a:solidFill>
                  <a:srgbClr val="0B1D33"/>
                </a:solidFill>
                <a:latin typeface="Calibri" pitchFamily="34" charset="0"/>
                <a:ea typeface="Calibri" pitchFamily="34" charset="-122"/>
                <a:cs typeface="Calibri" pitchFamily="34" charset="-120"/>
              </a:rPr>
              <a:t>To study and compare the architecture, working principles, and performance characteristics of CCD and CMOS image sensors, in order to identify their key engineering trade-offs and determine their suitability for different imaging and computer vision applications.</a:t>
            </a:r>
            <a:endParaRPr lang="en-US" sz="1700" dirty="0"/>
          </a:p>
        </p:txBody>
      </p:sp>
      <p:sp>
        <p:nvSpPr>
          <p:cNvPr id="8" name="Shape 6"/>
          <p:cNvSpPr/>
          <p:nvPr/>
        </p:nvSpPr>
        <p:spPr>
          <a:xfrm>
            <a:off x="548640" y="4114800"/>
            <a:ext cx="2286000" cy="457200"/>
          </a:xfrm>
          <a:prstGeom prst="roundRect">
            <a:avLst>
              <a:gd name="adj" fmla="val 16000"/>
            </a:avLst>
          </a:prstGeom>
          <a:solidFill>
            <a:srgbClr val="FEF7EA"/>
          </a:solidFill>
          <a:ln w="12700">
            <a:solidFill>
              <a:srgbClr val="F2A93B"/>
            </a:solidFill>
            <a:prstDash val="solid"/>
          </a:ln>
        </p:spPr>
      </p:sp>
      <p:sp>
        <p:nvSpPr>
          <p:cNvPr id="9" name="Text 7"/>
          <p:cNvSpPr/>
          <p:nvPr/>
        </p:nvSpPr>
        <p:spPr>
          <a:xfrm>
            <a:off x="548640" y="4114800"/>
            <a:ext cx="2286000" cy="457200"/>
          </a:xfrm>
          <a:prstGeom prst="rect">
            <a:avLst/>
          </a:prstGeom>
          <a:noFill/>
          <a:ln/>
        </p:spPr>
        <p:txBody>
          <a:bodyPr wrap="square" rtlCol="0" anchor="ctr"/>
          <a:lstStyle/>
          <a:p>
            <a:pPr algn="ctr" indent="0" marL="0">
              <a:buNone/>
            </a:pPr>
            <a:r>
              <a:rPr lang="en-US" sz="1300" b="1" dirty="0">
                <a:solidFill>
                  <a:srgbClr val="B8801F"/>
                </a:solidFill>
                <a:latin typeface="Calibri" pitchFamily="34" charset="0"/>
                <a:ea typeface="Calibri" pitchFamily="34" charset="-122"/>
                <a:cs typeface="Calibri" pitchFamily="34" charset="-120"/>
              </a:rPr>
              <a:t>CCD</a:t>
            </a:r>
            <a:endParaRPr lang="en-US" sz="1300" dirty="0"/>
          </a:p>
        </p:txBody>
      </p:sp>
      <p:sp>
        <p:nvSpPr>
          <p:cNvPr id="10" name="Shape 8"/>
          <p:cNvSpPr/>
          <p:nvPr/>
        </p:nvSpPr>
        <p:spPr>
          <a:xfrm>
            <a:off x="3063240" y="4114800"/>
            <a:ext cx="2286000" cy="457200"/>
          </a:xfrm>
          <a:prstGeom prst="roundRect">
            <a:avLst>
              <a:gd name="adj" fmla="val 16000"/>
            </a:avLst>
          </a:prstGeom>
          <a:solidFill>
            <a:srgbClr val="EAF8FA"/>
          </a:solidFill>
          <a:ln w="12700">
            <a:solidFill>
              <a:srgbClr val="2FB8CC"/>
            </a:solidFill>
            <a:prstDash val="solid"/>
          </a:ln>
        </p:spPr>
      </p:sp>
      <p:sp>
        <p:nvSpPr>
          <p:cNvPr id="11" name="Text 9"/>
          <p:cNvSpPr/>
          <p:nvPr/>
        </p:nvSpPr>
        <p:spPr>
          <a:xfrm>
            <a:off x="3063240" y="4114800"/>
            <a:ext cx="2286000" cy="457200"/>
          </a:xfrm>
          <a:prstGeom prst="rect">
            <a:avLst/>
          </a:prstGeom>
          <a:noFill/>
          <a:ln/>
        </p:spPr>
        <p:txBody>
          <a:bodyPr wrap="square" rtlCol="0" anchor="ctr"/>
          <a:lstStyle/>
          <a:p>
            <a:pPr algn="ctr" indent="0" marL="0">
              <a:buNone/>
            </a:pPr>
            <a:r>
              <a:rPr lang="en-US" sz="1300" b="1" dirty="0">
                <a:solidFill>
                  <a:srgbClr val="1D95A6"/>
                </a:solidFill>
                <a:latin typeface="Calibri" pitchFamily="34" charset="0"/>
                <a:ea typeface="Calibri" pitchFamily="34" charset="-122"/>
                <a:cs typeface="Calibri" pitchFamily="34" charset="-120"/>
              </a:rPr>
              <a:t>CMOS</a:t>
            </a:r>
            <a:endParaRPr lang="en-US" sz="1300" dirty="0"/>
          </a:p>
        </p:txBody>
      </p:sp>
      <p:sp>
        <p:nvSpPr>
          <p:cNvPr id="12" name="Text 10"/>
          <p:cNvSpPr/>
          <p:nvPr/>
        </p:nvSpPr>
        <p:spPr>
          <a:xfrm>
            <a:off x="548640" y="4846320"/>
            <a:ext cx="10515600" cy="1463040"/>
          </a:xfrm>
          <a:prstGeom prst="rect">
            <a:avLst/>
          </a:prstGeom>
          <a:noFill/>
          <a:ln/>
        </p:spPr>
        <p:txBody>
          <a:bodyPr wrap="square" rtlCol="0" anchor="ctr"/>
          <a:lstStyle/>
          <a:p>
            <a:pPr marL="342900" indent="-342900">
              <a:lnSpc>
                <a:spcPct val="115000"/>
              </a:lnSpc>
              <a:spcAft>
                <a:spcPts val="800"/>
              </a:spcAft>
              <a:buSzPct val="100000"/>
              <a:buChar char="•"/>
            </a:pPr>
            <a:r>
              <a:rPr lang="en-US" sz="1300" dirty="0">
                <a:solidFill>
                  <a:srgbClr val="0B1D33"/>
                </a:solidFill>
                <a:latin typeface="Calibri" pitchFamily="34" charset="0"/>
                <a:ea typeface="Calibri" pitchFamily="34" charset="-122"/>
                <a:cs typeface="Calibri" pitchFamily="34" charset="-120"/>
              </a:rPr>
              <a:t>Understand how each sensor converts light into a digital signal</a:t>
            </a:r>
            <a:endParaRPr lang="en-US" sz="1300" dirty="0"/>
          </a:p>
          <a:p>
            <a:pPr marL="342900" indent="-342900">
              <a:lnSpc>
                <a:spcPct val="115000"/>
              </a:lnSpc>
              <a:spcAft>
                <a:spcPts val="800"/>
              </a:spcAft>
              <a:buSzPct val="100000"/>
              <a:buChar char="•"/>
            </a:pPr>
            <a:r>
              <a:rPr lang="en-US" sz="1300" dirty="0">
                <a:solidFill>
                  <a:srgbClr val="0B1D33"/>
                </a:solidFill>
                <a:latin typeface="Calibri" pitchFamily="34" charset="0"/>
                <a:ea typeface="Calibri" pitchFamily="34" charset="-122"/>
                <a:cs typeface="Calibri" pitchFamily="34" charset="-120"/>
              </a:rPr>
              <a:t>Compare power, speed, cost, noise, and dynamic range</a:t>
            </a:r>
            <a:endParaRPr lang="en-US" sz="1300" dirty="0"/>
          </a:p>
          <a:p>
            <a:pPr marL="342900" indent="-342900">
              <a:lnSpc>
                <a:spcPct val="115000"/>
              </a:lnSpc>
              <a:spcAft>
                <a:spcPts val="800"/>
              </a:spcAft>
              <a:buSzPct val="100000"/>
              <a:buChar char="•"/>
            </a:pPr>
            <a:r>
              <a:rPr lang="en-US" sz="1300" dirty="0">
                <a:solidFill>
                  <a:srgbClr val="0B1D33"/>
                </a:solidFill>
                <a:latin typeface="Calibri" pitchFamily="34" charset="0"/>
                <a:ea typeface="Calibri" pitchFamily="34" charset="-122"/>
                <a:cs typeface="Calibri" pitchFamily="34" charset="-120"/>
              </a:rPr>
              <a:t>Recommend the right sensor for a given application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20240" cy="365760"/>
          </a:xfrm>
          <a:prstGeom prst="roundRect">
            <a:avLst>
              <a:gd name="adj" fmla="val 15000"/>
            </a:avLst>
          </a:prstGeom>
          <a:solidFill>
            <a:srgbClr val="0B1D33"/>
          </a:solidFill>
          <a:ln/>
        </p:spPr>
      </p:sp>
      <p:sp>
        <p:nvSpPr>
          <p:cNvPr id="3" name="Text 1"/>
          <p:cNvSpPr/>
          <p:nvPr/>
        </p:nvSpPr>
        <p:spPr>
          <a:xfrm>
            <a:off x="548640" y="411480"/>
            <a:ext cx="1920240" cy="365760"/>
          </a:xfrm>
          <a:prstGeom prst="rect">
            <a:avLst/>
          </a:prstGeom>
          <a:noFill/>
          <a:ln/>
        </p:spPr>
        <p:txBody>
          <a:bodyPr wrap="square" rtlCol="0" anchor="ctr"/>
          <a:lstStyle/>
          <a:p>
            <a:pPr algn="ctr" indent="0" marL="0">
              <a:buNone/>
            </a:pPr>
            <a:r>
              <a:rPr lang="en-US" sz="1100" b="1" spc="100" kern="0" dirty="0">
                <a:solidFill>
                  <a:srgbClr val="2FB8CC"/>
                </a:solidFill>
                <a:latin typeface="Calibri" pitchFamily="34" charset="0"/>
                <a:ea typeface="Calibri" pitchFamily="34" charset="-122"/>
                <a:cs typeface="Calibri" pitchFamily="34" charset="-120"/>
              </a:rPr>
              <a:t>ARCHITECTURE</a:t>
            </a:r>
            <a:endParaRPr lang="en-US" sz="1100" dirty="0"/>
          </a:p>
        </p:txBody>
      </p:sp>
      <p:sp>
        <p:nvSpPr>
          <p:cNvPr id="4" name="Text 2"/>
          <p:cNvSpPr/>
          <p:nvPr/>
        </p:nvSpPr>
        <p:spPr>
          <a:xfrm>
            <a:off x="548640" y="914400"/>
            <a:ext cx="10058400" cy="548640"/>
          </a:xfrm>
          <a:prstGeom prst="rect">
            <a:avLst/>
          </a:prstGeom>
          <a:noFill/>
          <a:ln/>
        </p:spPr>
        <p:txBody>
          <a:bodyPr wrap="square" rtlCol="0" anchor="ctr"/>
          <a:lstStyle/>
          <a:p>
            <a:pPr indent="0" marL="0">
              <a:buNone/>
            </a:pPr>
            <a:r>
              <a:rPr lang="en-US" sz="2800" b="1" dirty="0">
                <a:solidFill>
                  <a:srgbClr val="0B1D33"/>
                </a:solidFill>
                <a:latin typeface="Cambria" pitchFamily="34" charset="0"/>
                <a:ea typeface="Cambria" pitchFamily="34" charset="-122"/>
                <a:cs typeface="Cambria" pitchFamily="34" charset="-120"/>
              </a:rPr>
              <a:t>How Each Sensor Reads Out an Image</a:t>
            </a:r>
            <a:endParaRPr lang="en-US" sz="2800" dirty="0"/>
          </a:p>
        </p:txBody>
      </p:sp>
      <p:sp>
        <p:nvSpPr>
          <p:cNvPr id="5" name="Shape 3"/>
          <p:cNvSpPr/>
          <p:nvPr/>
        </p:nvSpPr>
        <p:spPr>
          <a:xfrm>
            <a:off x="548640" y="1600200"/>
            <a:ext cx="5349240" cy="4800600"/>
          </a:xfrm>
          <a:prstGeom prst="roundRect">
            <a:avLst>
              <a:gd name="adj" fmla="val 1905"/>
            </a:avLst>
          </a:prstGeom>
          <a:solidFill>
            <a:srgbClr val="F6F8FA"/>
          </a:solidFill>
          <a:ln w="12700">
            <a:solidFill>
              <a:srgbClr val="DCE3EB"/>
            </a:solidFill>
            <a:prstDash val="solid"/>
          </a:ln>
        </p:spPr>
      </p:sp>
      <p:sp>
        <p:nvSpPr>
          <p:cNvPr id="6" name="Shape 4"/>
          <p:cNvSpPr/>
          <p:nvPr/>
        </p:nvSpPr>
        <p:spPr>
          <a:xfrm>
            <a:off x="548640" y="1600200"/>
            <a:ext cx="73152" cy="4800600"/>
          </a:xfrm>
          <a:prstGeom prst="rect">
            <a:avLst/>
          </a:prstGeom>
          <a:solidFill>
            <a:srgbClr val="F2A93B"/>
          </a:solidFill>
          <a:ln/>
        </p:spPr>
      </p:sp>
      <p:sp>
        <p:nvSpPr>
          <p:cNvPr id="7" name="Text 5"/>
          <p:cNvSpPr/>
          <p:nvPr/>
        </p:nvSpPr>
        <p:spPr>
          <a:xfrm>
            <a:off x="822960" y="1783080"/>
            <a:ext cx="2743200" cy="411480"/>
          </a:xfrm>
          <a:prstGeom prst="rect">
            <a:avLst/>
          </a:prstGeom>
          <a:noFill/>
          <a:ln/>
        </p:spPr>
        <p:txBody>
          <a:bodyPr wrap="square" rtlCol="0" anchor="ctr"/>
          <a:lstStyle/>
          <a:p>
            <a:pPr indent="0" marL="0">
              <a:buNone/>
            </a:pPr>
            <a:r>
              <a:rPr lang="en-US" sz="2000" b="1" dirty="0">
                <a:solidFill>
                  <a:srgbClr val="F2A93B"/>
                </a:solidFill>
                <a:latin typeface="Cambria" pitchFamily="34" charset="0"/>
                <a:ea typeface="Cambria" pitchFamily="34" charset="-122"/>
                <a:cs typeface="Cambria" pitchFamily="34" charset="-120"/>
              </a:rPr>
              <a:t>CCD</a:t>
            </a:r>
            <a:endParaRPr lang="en-US" sz="2000" dirty="0"/>
          </a:p>
        </p:txBody>
      </p:sp>
      <p:sp>
        <p:nvSpPr>
          <p:cNvPr id="8" name="Text 6"/>
          <p:cNvSpPr/>
          <p:nvPr/>
        </p:nvSpPr>
        <p:spPr>
          <a:xfrm>
            <a:off x="822960" y="2167128"/>
            <a:ext cx="4754880" cy="274320"/>
          </a:xfrm>
          <a:prstGeom prst="rect">
            <a:avLst/>
          </a:prstGeom>
          <a:noFill/>
          <a:ln/>
        </p:spPr>
        <p:txBody>
          <a:bodyPr wrap="square" rtlCol="0" anchor="ctr"/>
          <a:lstStyle/>
          <a:p>
            <a:pPr indent="0" marL="0">
              <a:buNone/>
            </a:pPr>
            <a:r>
              <a:rPr lang="en-US" sz="1100" i="1" dirty="0">
                <a:solidFill>
                  <a:srgbClr val="5B6B82"/>
                </a:solidFill>
                <a:latin typeface="Calibri" pitchFamily="34" charset="0"/>
                <a:ea typeface="Calibri" pitchFamily="34" charset="-122"/>
                <a:cs typeface="Calibri" pitchFamily="34" charset="-120"/>
              </a:rPr>
              <a:t>Charge-domain, serial readout</a:t>
            </a:r>
            <a:endParaRPr lang="en-US" sz="1100" dirty="0"/>
          </a:p>
        </p:txBody>
      </p:sp>
      <p:sp>
        <p:nvSpPr>
          <p:cNvPr id="9" name="Shape 7"/>
          <p:cNvSpPr/>
          <p:nvPr/>
        </p:nvSpPr>
        <p:spPr>
          <a:xfrm>
            <a:off x="868680" y="2651760"/>
            <a:ext cx="256032" cy="256032"/>
          </a:xfrm>
          <a:prstGeom prst="rect">
            <a:avLst/>
          </a:prstGeom>
          <a:solidFill>
            <a:srgbClr val="FCEFD6"/>
          </a:solidFill>
          <a:ln w="9525">
            <a:solidFill>
              <a:srgbClr val="F2A93B"/>
            </a:solidFill>
            <a:prstDash val="solid"/>
          </a:ln>
        </p:spPr>
      </p:sp>
      <p:sp>
        <p:nvSpPr>
          <p:cNvPr id="10" name="Shape 8"/>
          <p:cNvSpPr/>
          <p:nvPr/>
        </p:nvSpPr>
        <p:spPr>
          <a:xfrm>
            <a:off x="1161288" y="2651760"/>
            <a:ext cx="256032" cy="256032"/>
          </a:xfrm>
          <a:prstGeom prst="rect">
            <a:avLst/>
          </a:prstGeom>
          <a:solidFill>
            <a:srgbClr val="FCEFD6"/>
          </a:solidFill>
          <a:ln w="9525">
            <a:solidFill>
              <a:srgbClr val="F2A93B"/>
            </a:solidFill>
            <a:prstDash val="solid"/>
          </a:ln>
        </p:spPr>
      </p:sp>
      <p:sp>
        <p:nvSpPr>
          <p:cNvPr id="11" name="Shape 9"/>
          <p:cNvSpPr/>
          <p:nvPr/>
        </p:nvSpPr>
        <p:spPr>
          <a:xfrm>
            <a:off x="1453896" y="2651760"/>
            <a:ext cx="256032" cy="256032"/>
          </a:xfrm>
          <a:prstGeom prst="rect">
            <a:avLst/>
          </a:prstGeom>
          <a:solidFill>
            <a:srgbClr val="FCEFD6"/>
          </a:solidFill>
          <a:ln w="9525">
            <a:solidFill>
              <a:srgbClr val="F2A93B"/>
            </a:solidFill>
            <a:prstDash val="solid"/>
          </a:ln>
        </p:spPr>
      </p:sp>
      <p:sp>
        <p:nvSpPr>
          <p:cNvPr id="12" name="Shape 10"/>
          <p:cNvSpPr/>
          <p:nvPr/>
        </p:nvSpPr>
        <p:spPr>
          <a:xfrm>
            <a:off x="1746504" y="2651760"/>
            <a:ext cx="256032" cy="256032"/>
          </a:xfrm>
          <a:prstGeom prst="rect">
            <a:avLst/>
          </a:prstGeom>
          <a:solidFill>
            <a:srgbClr val="FCEFD6"/>
          </a:solidFill>
          <a:ln w="9525">
            <a:solidFill>
              <a:srgbClr val="F2A93B"/>
            </a:solidFill>
            <a:prstDash val="solid"/>
          </a:ln>
        </p:spPr>
      </p:sp>
      <p:sp>
        <p:nvSpPr>
          <p:cNvPr id="13" name="Shape 11"/>
          <p:cNvSpPr/>
          <p:nvPr/>
        </p:nvSpPr>
        <p:spPr>
          <a:xfrm>
            <a:off x="2039112" y="2651760"/>
            <a:ext cx="256032" cy="256032"/>
          </a:xfrm>
          <a:prstGeom prst="rect">
            <a:avLst/>
          </a:prstGeom>
          <a:solidFill>
            <a:srgbClr val="FCEFD6"/>
          </a:solidFill>
          <a:ln w="9525">
            <a:solidFill>
              <a:srgbClr val="F2A93B"/>
            </a:solidFill>
            <a:prstDash val="solid"/>
          </a:ln>
        </p:spPr>
      </p:sp>
      <p:sp>
        <p:nvSpPr>
          <p:cNvPr id="14" name="Shape 12"/>
          <p:cNvSpPr/>
          <p:nvPr/>
        </p:nvSpPr>
        <p:spPr>
          <a:xfrm>
            <a:off x="2331720" y="2651760"/>
            <a:ext cx="256032" cy="256032"/>
          </a:xfrm>
          <a:prstGeom prst="rect">
            <a:avLst/>
          </a:prstGeom>
          <a:solidFill>
            <a:srgbClr val="FCEFD6"/>
          </a:solidFill>
          <a:ln w="9525">
            <a:solidFill>
              <a:srgbClr val="F2A93B"/>
            </a:solidFill>
            <a:prstDash val="solid"/>
          </a:ln>
        </p:spPr>
      </p:sp>
      <p:sp>
        <p:nvSpPr>
          <p:cNvPr id="15" name="Shape 13"/>
          <p:cNvSpPr/>
          <p:nvPr/>
        </p:nvSpPr>
        <p:spPr>
          <a:xfrm>
            <a:off x="868680" y="2944368"/>
            <a:ext cx="256032" cy="256032"/>
          </a:xfrm>
          <a:prstGeom prst="rect">
            <a:avLst/>
          </a:prstGeom>
          <a:solidFill>
            <a:srgbClr val="FCEFD6"/>
          </a:solidFill>
          <a:ln w="9525">
            <a:solidFill>
              <a:srgbClr val="F2A93B"/>
            </a:solidFill>
            <a:prstDash val="solid"/>
          </a:ln>
        </p:spPr>
      </p:sp>
      <p:sp>
        <p:nvSpPr>
          <p:cNvPr id="16" name="Shape 14"/>
          <p:cNvSpPr/>
          <p:nvPr/>
        </p:nvSpPr>
        <p:spPr>
          <a:xfrm>
            <a:off x="1161288" y="2944368"/>
            <a:ext cx="256032" cy="256032"/>
          </a:xfrm>
          <a:prstGeom prst="rect">
            <a:avLst/>
          </a:prstGeom>
          <a:solidFill>
            <a:srgbClr val="FCEFD6"/>
          </a:solidFill>
          <a:ln w="9525">
            <a:solidFill>
              <a:srgbClr val="F2A93B"/>
            </a:solidFill>
            <a:prstDash val="solid"/>
          </a:ln>
        </p:spPr>
      </p:sp>
      <p:sp>
        <p:nvSpPr>
          <p:cNvPr id="17" name="Shape 15"/>
          <p:cNvSpPr/>
          <p:nvPr/>
        </p:nvSpPr>
        <p:spPr>
          <a:xfrm>
            <a:off x="1453896" y="2944368"/>
            <a:ext cx="256032" cy="256032"/>
          </a:xfrm>
          <a:prstGeom prst="rect">
            <a:avLst/>
          </a:prstGeom>
          <a:solidFill>
            <a:srgbClr val="FCEFD6"/>
          </a:solidFill>
          <a:ln w="9525">
            <a:solidFill>
              <a:srgbClr val="F2A93B"/>
            </a:solidFill>
            <a:prstDash val="solid"/>
          </a:ln>
        </p:spPr>
      </p:sp>
      <p:sp>
        <p:nvSpPr>
          <p:cNvPr id="18" name="Shape 16"/>
          <p:cNvSpPr/>
          <p:nvPr/>
        </p:nvSpPr>
        <p:spPr>
          <a:xfrm>
            <a:off x="1746504" y="2944368"/>
            <a:ext cx="256032" cy="256032"/>
          </a:xfrm>
          <a:prstGeom prst="rect">
            <a:avLst/>
          </a:prstGeom>
          <a:solidFill>
            <a:srgbClr val="FCEFD6"/>
          </a:solidFill>
          <a:ln w="9525">
            <a:solidFill>
              <a:srgbClr val="F2A93B"/>
            </a:solidFill>
            <a:prstDash val="solid"/>
          </a:ln>
        </p:spPr>
      </p:sp>
      <p:sp>
        <p:nvSpPr>
          <p:cNvPr id="19" name="Shape 17"/>
          <p:cNvSpPr/>
          <p:nvPr/>
        </p:nvSpPr>
        <p:spPr>
          <a:xfrm>
            <a:off x="2039112" y="2944368"/>
            <a:ext cx="256032" cy="256032"/>
          </a:xfrm>
          <a:prstGeom prst="rect">
            <a:avLst/>
          </a:prstGeom>
          <a:solidFill>
            <a:srgbClr val="FCEFD6"/>
          </a:solidFill>
          <a:ln w="9525">
            <a:solidFill>
              <a:srgbClr val="F2A93B"/>
            </a:solidFill>
            <a:prstDash val="solid"/>
          </a:ln>
        </p:spPr>
      </p:sp>
      <p:sp>
        <p:nvSpPr>
          <p:cNvPr id="20" name="Shape 18"/>
          <p:cNvSpPr/>
          <p:nvPr/>
        </p:nvSpPr>
        <p:spPr>
          <a:xfrm>
            <a:off x="2331720" y="2944368"/>
            <a:ext cx="256032" cy="256032"/>
          </a:xfrm>
          <a:prstGeom prst="rect">
            <a:avLst/>
          </a:prstGeom>
          <a:solidFill>
            <a:srgbClr val="FCEFD6"/>
          </a:solidFill>
          <a:ln w="9525">
            <a:solidFill>
              <a:srgbClr val="F2A93B"/>
            </a:solidFill>
            <a:prstDash val="solid"/>
          </a:ln>
        </p:spPr>
      </p:sp>
      <p:sp>
        <p:nvSpPr>
          <p:cNvPr id="21" name="Shape 19"/>
          <p:cNvSpPr/>
          <p:nvPr/>
        </p:nvSpPr>
        <p:spPr>
          <a:xfrm>
            <a:off x="868680" y="3236976"/>
            <a:ext cx="256032" cy="256032"/>
          </a:xfrm>
          <a:prstGeom prst="rect">
            <a:avLst/>
          </a:prstGeom>
          <a:solidFill>
            <a:srgbClr val="FCEFD6"/>
          </a:solidFill>
          <a:ln w="9525">
            <a:solidFill>
              <a:srgbClr val="F2A93B"/>
            </a:solidFill>
            <a:prstDash val="solid"/>
          </a:ln>
        </p:spPr>
      </p:sp>
      <p:sp>
        <p:nvSpPr>
          <p:cNvPr id="22" name="Shape 20"/>
          <p:cNvSpPr/>
          <p:nvPr/>
        </p:nvSpPr>
        <p:spPr>
          <a:xfrm>
            <a:off x="1161288" y="3236976"/>
            <a:ext cx="256032" cy="256032"/>
          </a:xfrm>
          <a:prstGeom prst="rect">
            <a:avLst/>
          </a:prstGeom>
          <a:solidFill>
            <a:srgbClr val="FCEFD6"/>
          </a:solidFill>
          <a:ln w="9525">
            <a:solidFill>
              <a:srgbClr val="F2A93B"/>
            </a:solidFill>
            <a:prstDash val="solid"/>
          </a:ln>
        </p:spPr>
      </p:sp>
      <p:sp>
        <p:nvSpPr>
          <p:cNvPr id="23" name="Shape 21"/>
          <p:cNvSpPr/>
          <p:nvPr/>
        </p:nvSpPr>
        <p:spPr>
          <a:xfrm>
            <a:off x="1453896" y="3236976"/>
            <a:ext cx="256032" cy="256032"/>
          </a:xfrm>
          <a:prstGeom prst="rect">
            <a:avLst/>
          </a:prstGeom>
          <a:solidFill>
            <a:srgbClr val="FCEFD6"/>
          </a:solidFill>
          <a:ln w="9525">
            <a:solidFill>
              <a:srgbClr val="F2A93B"/>
            </a:solidFill>
            <a:prstDash val="solid"/>
          </a:ln>
        </p:spPr>
      </p:sp>
      <p:sp>
        <p:nvSpPr>
          <p:cNvPr id="24" name="Shape 22"/>
          <p:cNvSpPr/>
          <p:nvPr/>
        </p:nvSpPr>
        <p:spPr>
          <a:xfrm>
            <a:off x="1746504" y="3236976"/>
            <a:ext cx="256032" cy="256032"/>
          </a:xfrm>
          <a:prstGeom prst="rect">
            <a:avLst/>
          </a:prstGeom>
          <a:solidFill>
            <a:srgbClr val="FCEFD6"/>
          </a:solidFill>
          <a:ln w="9525">
            <a:solidFill>
              <a:srgbClr val="F2A93B"/>
            </a:solidFill>
            <a:prstDash val="solid"/>
          </a:ln>
        </p:spPr>
      </p:sp>
      <p:sp>
        <p:nvSpPr>
          <p:cNvPr id="25" name="Shape 23"/>
          <p:cNvSpPr/>
          <p:nvPr/>
        </p:nvSpPr>
        <p:spPr>
          <a:xfrm>
            <a:off x="2039112" y="3236976"/>
            <a:ext cx="256032" cy="256032"/>
          </a:xfrm>
          <a:prstGeom prst="rect">
            <a:avLst/>
          </a:prstGeom>
          <a:solidFill>
            <a:srgbClr val="FCEFD6"/>
          </a:solidFill>
          <a:ln w="9525">
            <a:solidFill>
              <a:srgbClr val="F2A93B"/>
            </a:solidFill>
            <a:prstDash val="solid"/>
          </a:ln>
        </p:spPr>
      </p:sp>
      <p:sp>
        <p:nvSpPr>
          <p:cNvPr id="26" name="Shape 24"/>
          <p:cNvSpPr/>
          <p:nvPr/>
        </p:nvSpPr>
        <p:spPr>
          <a:xfrm>
            <a:off x="2331720" y="3236976"/>
            <a:ext cx="256032" cy="256032"/>
          </a:xfrm>
          <a:prstGeom prst="rect">
            <a:avLst/>
          </a:prstGeom>
          <a:solidFill>
            <a:srgbClr val="FCEFD6"/>
          </a:solidFill>
          <a:ln w="9525">
            <a:solidFill>
              <a:srgbClr val="F2A93B"/>
            </a:solidFill>
            <a:prstDash val="solid"/>
          </a:ln>
        </p:spPr>
      </p:sp>
      <p:sp>
        <p:nvSpPr>
          <p:cNvPr id="27" name="Shape 25"/>
          <p:cNvSpPr/>
          <p:nvPr/>
        </p:nvSpPr>
        <p:spPr>
          <a:xfrm>
            <a:off x="868680" y="3529584"/>
            <a:ext cx="256032" cy="256032"/>
          </a:xfrm>
          <a:prstGeom prst="rect">
            <a:avLst/>
          </a:prstGeom>
          <a:solidFill>
            <a:srgbClr val="FCEFD6"/>
          </a:solidFill>
          <a:ln w="9525">
            <a:solidFill>
              <a:srgbClr val="F2A93B"/>
            </a:solidFill>
            <a:prstDash val="solid"/>
          </a:ln>
        </p:spPr>
      </p:sp>
      <p:sp>
        <p:nvSpPr>
          <p:cNvPr id="28" name="Shape 26"/>
          <p:cNvSpPr/>
          <p:nvPr/>
        </p:nvSpPr>
        <p:spPr>
          <a:xfrm>
            <a:off x="1161288" y="3529584"/>
            <a:ext cx="256032" cy="256032"/>
          </a:xfrm>
          <a:prstGeom prst="rect">
            <a:avLst/>
          </a:prstGeom>
          <a:solidFill>
            <a:srgbClr val="FCEFD6"/>
          </a:solidFill>
          <a:ln w="9525">
            <a:solidFill>
              <a:srgbClr val="F2A93B"/>
            </a:solidFill>
            <a:prstDash val="solid"/>
          </a:ln>
        </p:spPr>
      </p:sp>
      <p:sp>
        <p:nvSpPr>
          <p:cNvPr id="29" name="Shape 27"/>
          <p:cNvSpPr/>
          <p:nvPr/>
        </p:nvSpPr>
        <p:spPr>
          <a:xfrm>
            <a:off x="1453896" y="3529584"/>
            <a:ext cx="256032" cy="256032"/>
          </a:xfrm>
          <a:prstGeom prst="rect">
            <a:avLst/>
          </a:prstGeom>
          <a:solidFill>
            <a:srgbClr val="FCEFD6"/>
          </a:solidFill>
          <a:ln w="9525">
            <a:solidFill>
              <a:srgbClr val="F2A93B"/>
            </a:solidFill>
            <a:prstDash val="solid"/>
          </a:ln>
        </p:spPr>
      </p:sp>
      <p:sp>
        <p:nvSpPr>
          <p:cNvPr id="30" name="Shape 28"/>
          <p:cNvSpPr/>
          <p:nvPr/>
        </p:nvSpPr>
        <p:spPr>
          <a:xfrm>
            <a:off x="1746504" y="3529584"/>
            <a:ext cx="256032" cy="256032"/>
          </a:xfrm>
          <a:prstGeom prst="rect">
            <a:avLst/>
          </a:prstGeom>
          <a:solidFill>
            <a:srgbClr val="FCEFD6"/>
          </a:solidFill>
          <a:ln w="9525">
            <a:solidFill>
              <a:srgbClr val="F2A93B"/>
            </a:solidFill>
            <a:prstDash val="solid"/>
          </a:ln>
        </p:spPr>
      </p:sp>
      <p:sp>
        <p:nvSpPr>
          <p:cNvPr id="31" name="Shape 29"/>
          <p:cNvSpPr/>
          <p:nvPr/>
        </p:nvSpPr>
        <p:spPr>
          <a:xfrm>
            <a:off x="2039112" y="3529584"/>
            <a:ext cx="256032" cy="256032"/>
          </a:xfrm>
          <a:prstGeom prst="rect">
            <a:avLst/>
          </a:prstGeom>
          <a:solidFill>
            <a:srgbClr val="FCEFD6"/>
          </a:solidFill>
          <a:ln w="9525">
            <a:solidFill>
              <a:srgbClr val="F2A93B"/>
            </a:solidFill>
            <a:prstDash val="solid"/>
          </a:ln>
        </p:spPr>
      </p:sp>
      <p:sp>
        <p:nvSpPr>
          <p:cNvPr id="32" name="Shape 30"/>
          <p:cNvSpPr/>
          <p:nvPr/>
        </p:nvSpPr>
        <p:spPr>
          <a:xfrm>
            <a:off x="2331720" y="3529584"/>
            <a:ext cx="256032" cy="256032"/>
          </a:xfrm>
          <a:prstGeom prst="rect">
            <a:avLst/>
          </a:prstGeom>
          <a:solidFill>
            <a:srgbClr val="FCEFD6"/>
          </a:solidFill>
          <a:ln w="9525">
            <a:solidFill>
              <a:srgbClr val="F2A93B"/>
            </a:solidFill>
            <a:prstDash val="solid"/>
          </a:ln>
        </p:spPr>
      </p:sp>
      <p:sp>
        <p:nvSpPr>
          <p:cNvPr id="33" name="Shape 31"/>
          <p:cNvSpPr/>
          <p:nvPr/>
        </p:nvSpPr>
        <p:spPr>
          <a:xfrm>
            <a:off x="868680" y="3895344"/>
            <a:ext cx="1719072" cy="201168"/>
          </a:xfrm>
          <a:prstGeom prst="rect">
            <a:avLst/>
          </a:prstGeom>
          <a:solidFill>
            <a:srgbClr val="F2A93B"/>
          </a:solidFill>
          <a:ln/>
        </p:spPr>
      </p:sp>
      <p:sp>
        <p:nvSpPr>
          <p:cNvPr id="34" name="Text 32"/>
          <p:cNvSpPr/>
          <p:nvPr/>
        </p:nvSpPr>
        <p:spPr>
          <a:xfrm>
            <a:off x="868680" y="4151376"/>
            <a:ext cx="4846320" cy="41148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Pixel array → shift register → single output amplifier → ADC</a:t>
            </a:r>
            <a:endParaRPr lang="en-US" sz="1000" dirty="0"/>
          </a:p>
        </p:txBody>
      </p:sp>
      <p:sp>
        <p:nvSpPr>
          <p:cNvPr id="35" name="Text 33"/>
          <p:cNvSpPr/>
          <p:nvPr/>
        </p:nvSpPr>
        <p:spPr>
          <a:xfrm>
            <a:off x="868680" y="4645152"/>
            <a:ext cx="4800600" cy="1463040"/>
          </a:xfrm>
          <a:prstGeom prst="rect">
            <a:avLst/>
          </a:prstGeom>
          <a:noFill/>
          <a:ln/>
        </p:spPr>
        <p:txBody>
          <a:bodyPr wrap="square" rtlCol="0" anchor="ctr"/>
          <a:lstStyle/>
          <a:p>
            <a:pPr marL="342900" indent="-342900">
              <a:lnSpc>
                <a:spcPct val="110000"/>
              </a:lnSpc>
              <a:spcAft>
                <a:spcPts val="600"/>
              </a:spcAft>
              <a:buSzPct val="100000"/>
              <a:buChar char="•"/>
            </a:pPr>
            <a:r>
              <a:rPr lang="en-US" sz="1150" dirty="0">
                <a:solidFill>
                  <a:srgbClr val="0B1D33"/>
                </a:solidFill>
                <a:latin typeface="Calibri" pitchFamily="34" charset="0"/>
                <a:ea typeface="Calibri" pitchFamily="34" charset="-122"/>
                <a:cs typeface="Calibri" pitchFamily="34" charset="-120"/>
              </a:rPr>
              <a:t>Photodiode-only pixels; charge shifts row by row to one amplifier</a:t>
            </a:r>
            <a:endParaRPr lang="en-US" sz="1150" dirty="0"/>
          </a:p>
          <a:p>
            <a:pPr marL="342900" indent="-342900">
              <a:lnSpc>
                <a:spcPct val="110000"/>
              </a:lnSpc>
              <a:spcAft>
                <a:spcPts val="600"/>
              </a:spcAft>
              <a:buSzPct val="100000"/>
              <a:buChar char="•"/>
            </a:pPr>
            <a:r>
              <a:rPr lang="en-US" sz="1150" dirty="0">
                <a:solidFill>
                  <a:srgbClr val="0B1D33"/>
                </a:solidFill>
                <a:latin typeface="Calibri" pitchFamily="34" charset="0"/>
                <a:ea typeface="Calibri" pitchFamily="34" charset="-122"/>
                <a:cs typeface="Calibri" pitchFamily="34" charset="-120"/>
              </a:rPr>
              <a:t>One shared amplifier ⇒ uniform gain, low fixed-pattern noise</a:t>
            </a:r>
            <a:endParaRPr lang="en-US" sz="1150" dirty="0"/>
          </a:p>
          <a:p>
            <a:pPr marL="342900" indent="-342900">
              <a:lnSpc>
                <a:spcPct val="110000"/>
              </a:lnSpc>
              <a:spcAft>
                <a:spcPts val="600"/>
              </a:spcAft>
              <a:buSzPct val="100000"/>
              <a:buChar char="•"/>
            </a:pPr>
            <a:r>
              <a:rPr lang="en-US" sz="1150" dirty="0">
                <a:solidFill>
                  <a:srgbClr val="0B1D33"/>
                </a:solidFill>
                <a:latin typeface="Calibri" pitchFamily="34" charset="0"/>
                <a:ea typeface="Calibri" pitchFamily="34" charset="-122"/>
                <a:cs typeface="Calibri" pitchFamily="34" charset="-120"/>
              </a:rPr>
              <a:t>Native global shutter — all pixels expose simultaneously</a:t>
            </a:r>
            <a:endParaRPr lang="en-US" sz="1150" dirty="0"/>
          </a:p>
        </p:txBody>
      </p:sp>
      <p:sp>
        <p:nvSpPr>
          <p:cNvPr id="36" name="Shape 34"/>
          <p:cNvSpPr/>
          <p:nvPr/>
        </p:nvSpPr>
        <p:spPr>
          <a:xfrm>
            <a:off x="6263640" y="1600200"/>
            <a:ext cx="5349240" cy="4800600"/>
          </a:xfrm>
          <a:prstGeom prst="roundRect">
            <a:avLst>
              <a:gd name="adj" fmla="val 1905"/>
            </a:avLst>
          </a:prstGeom>
          <a:solidFill>
            <a:srgbClr val="F6F8FA"/>
          </a:solidFill>
          <a:ln w="12700">
            <a:solidFill>
              <a:srgbClr val="DCE3EB"/>
            </a:solidFill>
            <a:prstDash val="solid"/>
          </a:ln>
        </p:spPr>
      </p:sp>
      <p:sp>
        <p:nvSpPr>
          <p:cNvPr id="37" name="Shape 35"/>
          <p:cNvSpPr/>
          <p:nvPr/>
        </p:nvSpPr>
        <p:spPr>
          <a:xfrm>
            <a:off x="6263640" y="1600200"/>
            <a:ext cx="73152" cy="4800600"/>
          </a:xfrm>
          <a:prstGeom prst="rect">
            <a:avLst/>
          </a:prstGeom>
          <a:solidFill>
            <a:srgbClr val="2FB8CC"/>
          </a:solidFill>
          <a:ln/>
        </p:spPr>
      </p:sp>
      <p:sp>
        <p:nvSpPr>
          <p:cNvPr id="38" name="Text 36"/>
          <p:cNvSpPr/>
          <p:nvPr/>
        </p:nvSpPr>
        <p:spPr>
          <a:xfrm>
            <a:off x="6537960" y="1783080"/>
            <a:ext cx="2743200" cy="411480"/>
          </a:xfrm>
          <a:prstGeom prst="rect">
            <a:avLst/>
          </a:prstGeom>
          <a:noFill/>
          <a:ln/>
        </p:spPr>
        <p:txBody>
          <a:bodyPr wrap="square" rtlCol="0" anchor="ctr"/>
          <a:lstStyle/>
          <a:p>
            <a:pPr indent="0" marL="0">
              <a:buNone/>
            </a:pPr>
            <a:r>
              <a:rPr lang="en-US" sz="2000" b="1" dirty="0">
                <a:solidFill>
                  <a:srgbClr val="1D95A6"/>
                </a:solidFill>
                <a:latin typeface="Cambria" pitchFamily="34" charset="0"/>
                <a:ea typeface="Cambria" pitchFamily="34" charset="-122"/>
                <a:cs typeface="Cambria" pitchFamily="34" charset="-120"/>
              </a:rPr>
              <a:t>CMOS</a:t>
            </a:r>
            <a:endParaRPr lang="en-US" sz="2000" dirty="0"/>
          </a:p>
        </p:txBody>
      </p:sp>
      <p:sp>
        <p:nvSpPr>
          <p:cNvPr id="39" name="Text 37"/>
          <p:cNvSpPr/>
          <p:nvPr/>
        </p:nvSpPr>
        <p:spPr>
          <a:xfrm>
            <a:off x="6537960" y="2167128"/>
            <a:ext cx="4754880" cy="274320"/>
          </a:xfrm>
          <a:prstGeom prst="rect">
            <a:avLst/>
          </a:prstGeom>
          <a:noFill/>
          <a:ln/>
        </p:spPr>
        <p:txBody>
          <a:bodyPr wrap="square" rtlCol="0" anchor="ctr"/>
          <a:lstStyle/>
          <a:p>
            <a:pPr indent="0" marL="0">
              <a:buNone/>
            </a:pPr>
            <a:r>
              <a:rPr lang="en-US" sz="1100" i="1" dirty="0">
                <a:solidFill>
                  <a:srgbClr val="5B6B82"/>
                </a:solidFill>
                <a:latin typeface="Calibri" pitchFamily="34" charset="0"/>
                <a:ea typeface="Calibri" pitchFamily="34" charset="-122"/>
                <a:cs typeface="Calibri" pitchFamily="34" charset="-120"/>
              </a:rPr>
              <a:t>Active-pixel, parallel readout</a:t>
            </a:r>
            <a:endParaRPr lang="en-US" sz="1100" dirty="0"/>
          </a:p>
        </p:txBody>
      </p:sp>
      <p:sp>
        <p:nvSpPr>
          <p:cNvPr id="40" name="Shape 38"/>
          <p:cNvSpPr/>
          <p:nvPr/>
        </p:nvSpPr>
        <p:spPr>
          <a:xfrm>
            <a:off x="6583680" y="2651760"/>
            <a:ext cx="256032" cy="256032"/>
          </a:xfrm>
          <a:prstGeom prst="rect">
            <a:avLst/>
          </a:prstGeom>
          <a:solidFill>
            <a:srgbClr val="DDF4F7"/>
          </a:solidFill>
          <a:ln w="9525">
            <a:solidFill>
              <a:srgbClr val="2FB8CC"/>
            </a:solidFill>
            <a:prstDash val="solid"/>
          </a:ln>
        </p:spPr>
      </p:sp>
      <p:sp>
        <p:nvSpPr>
          <p:cNvPr id="41" name="Shape 39"/>
          <p:cNvSpPr/>
          <p:nvPr/>
        </p:nvSpPr>
        <p:spPr>
          <a:xfrm>
            <a:off x="6765097" y="2833177"/>
            <a:ext cx="64374" cy="64374"/>
          </a:xfrm>
          <a:prstGeom prst="ellipse">
            <a:avLst/>
          </a:prstGeom>
          <a:solidFill>
            <a:srgbClr val="1D95A6"/>
          </a:solidFill>
          <a:ln/>
        </p:spPr>
      </p:sp>
      <p:sp>
        <p:nvSpPr>
          <p:cNvPr id="42" name="Shape 40"/>
          <p:cNvSpPr/>
          <p:nvPr/>
        </p:nvSpPr>
        <p:spPr>
          <a:xfrm>
            <a:off x="6876288" y="2651760"/>
            <a:ext cx="256032" cy="256032"/>
          </a:xfrm>
          <a:prstGeom prst="rect">
            <a:avLst/>
          </a:prstGeom>
          <a:solidFill>
            <a:srgbClr val="DDF4F7"/>
          </a:solidFill>
          <a:ln w="9525">
            <a:solidFill>
              <a:srgbClr val="2FB8CC"/>
            </a:solidFill>
            <a:prstDash val="solid"/>
          </a:ln>
        </p:spPr>
      </p:sp>
      <p:sp>
        <p:nvSpPr>
          <p:cNvPr id="43" name="Shape 41"/>
          <p:cNvSpPr/>
          <p:nvPr/>
        </p:nvSpPr>
        <p:spPr>
          <a:xfrm>
            <a:off x="7057705" y="2833177"/>
            <a:ext cx="64374" cy="64374"/>
          </a:xfrm>
          <a:prstGeom prst="ellipse">
            <a:avLst/>
          </a:prstGeom>
          <a:solidFill>
            <a:srgbClr val="1D95A6"/>
          </a:solidFill>
          <a:ln/>
        </p:spPr>
      </p:sp>
      <p:sp>
        <p:nvSpPr>
          <p:cNvPr id="44" name="Shape 42"/>
          <p:cNvSpPr/>
          <p:nvPr/>
        </p:nvSpPr>
        <p:spPr>
          <a:xfrm>
            <a:off x="7168896" y="2651760"/>
            <a:ext cx="256032" cy="256032"/>
          </a:xfrm>
          <a:prstGeom prst="rect">
            <a:avLst/>
          </a:prstGeom>
          <a:solidFill>
            <a:srgbClr val="DDF4F7"/>
          </a:solidFill>
          <a:ln w="9525">
            <a:solidFill>
              <a:srgbClr val="2FB8CC"/>
            </a:solidFill>
            <a:prstDash val="solid"/>
          </a:ln>
        </p:spPr>
      </p:sp>
      <p:sp>
        <p:nvSpPr>
          <p:cNvPr id="45" name="Shape 43"/>
          <p:cNvSpPr/>
          <p:nvPr/>
        </p:nvSpPr>
        <p:spPr>
          <a:xfrm>
            <a:off x="7350313" y="2833177"/>
            <a:ext cx="64374" cy="64374"/>
          </a:xfrm>
          <a:prstGeom prst="ellipse">
            <a:avLst/>
          </a:prstGeom>
          <a:solidFill>
            <a:srgbClr val="1D95A6"/>
          </a:solidFill>
          <a:ln/>
        </p:spPr>
      </p:sp>
      <p:sp>
        <p:nvSpPr>
          <p:cNvPr id="46" name="Shape 44"/>
          <p:cNvSpPr/>
          <p:nvPr/>
        </p:nvSpPr>
        <p:spPr>
          <a:xfrm>
            <a:off x="7461504" y="2651760"/>
            <a:ext cx="256032" cy="256032"/>
          </a:xfrm>
          <a:prstGeom prst="rect">
            <a:avLst/>
          </a:prstGeom>
          <a:solidFill>
            <a:srgbClr val="DDF4F7"/>
          </a:solidFill>
          <a:ln w="9525">
            <a:solidFill>
              <a:srgbClr val="2FB8CC"/>
            </a:solidFill>
            <a:prstDash val="solid"/>
          </a:ln>
        </p:spPr>
      </p:sp>
      <p:sp>
        <p:nvSpPr>
          <p:cNvPr id="47" name="Shape 45"/>
          <p:cNvSpPr/>
          <p:nvPr/>
        </p:nvSpPr>
        <p:spPr>
          <a:xfrm>
            <a:off x="7642921" y="2833177"/>
            <a:ext cx="64374" cy="64374"/>
          </a:xfrm>
          <a:prstGeom prst="ellipse">
            <a:avLst/>
          </a:prstGeom>
          <a:solidFill>
            <a:srgbClr val="1D95A6"/>
          </a:solidFill>
          <a:ln/>
        </p:spPr>
      </p:sp>
      <p:sp>
        <p:nvSpPr>
          <p:cNvPr id="48" name="Shape 46"/>
          <p:cNvSpPr/>
          <p:nvPr/>
        </p:nvSpPr>
        <p:spPr>
          <a:xfrm>
            <a:off x="7754112" y="2651760"/>
            <a:ext cx="256032" cy="256032"/>
          </a:xfrm>
          <a:prstGeom prst="rect">
            <a:avLst/>
          </a:prstGeom>
          <a:solidFill>
            <a:srgbClr val="DDF4F7"/>
          </a:solidFill>
          <a:ln w="9525">
            <a:solidFill>
              <a:srgbClr val="2FB8CC"/>
            </a:solidFill>
            <a:prstDash val="solid"/>
          </a:ln>
        </p:spPr>
      </p:sp>
      <p:sp>
        <p:nvSpPr>
          <p:cNvPr id="49" name="Shape 47"/>
          <p:cNvSpPr/>
          <p:nvPr/>
        </p:nvSpPr>
        <p:spPr>
          <a:xfrm>
            <a:off x="7935529" y="2833177"/>
            <a:ext cx="64374" cy="64374"/>
          </a:xfrm>
          <a:prstGeom prst="ellipse">
            <a:avLst/>
          </a:prstGeom>
          <a:solidFill>
            <a:srgbClr val="1D95A6"/>
          </a:solidFill>
          <a:ln/>
        </p:spPr>
      </p:sp>
      <p:sp>
        <p:nvSpPr>
          <p:cNvPr id="50" name="Shape 48"/>
          <p:cNvSpPr/>
          <p:nvPr/>
        </p:nvSpPr>
        <p:spPr>
          <a:xfrm>
            <a:off x="8046720" y="2651760"/>
            <a:ext cx="256032" cy="256032"/>
          </a:xfrm>
          <a:prstGeom prst="rect">
            <a:avLst/>
          </a:prstGeom>
          <a:solidFill>
            <a:srgbClr val="DDF4F7"/>
          </a:solidFill>
          <a:ln w="9525">
            <a:solidFill>
              <a:srgbClr val="2FB8CC"/>
            </a:solidFill>
            <a:prstDash val="solid"/>
          </a:ln>
        </p:spPr>
      </p:sp>
      <p:sp>
        <p:nvSpPr>
          <p:cNvPr id="51" name="Shape 49"/>
          <p:cNvSpPr/>
          <p:nvPr/>
        </p:nvSpPr>
        <p:spPr>
          <a:xfrm>
            <a:off x="8228137" y="2833177"/>
            <a:ext cx="64374" cy="64374"/>
          </a:xfrm>
          <a:prstGeom prst="ellipse">
            <a:avLst/>
          </a:prstGeom>
          <a:solidFill>
            <a:srgbClr val="1D95A6"/>
          </a:solidFill>
          <a:ln/>
        </p:spPr>
      </p:sp>
      <p:sp>
        <p:nvSpPr>
          <p:cNvPr id="52" name="Shape 50"/>
          <p:cNvSpPr/>
          <p:nvPr/>
        </p:nvSpPr>
        <p:spPr>
          <a:xfrm>
            <a:off x="6583680" y="2944368"/>
            <a:ext cx="256032" cy="256032"/>
          </a:xfrm>
          <a:prstGeom prst="rect">
            <a:avLst/>
          </a:prstGeom>
          <a:solidFill>
            <a:srgbClr val="DDF4F7"/>
          </a:solidFill>
          <a:ln w="9525">
            <a:solidFill>
              <a:srgbClr val="2FB8CC"/>
            </a:solidFill>
            <a:prstDash val="solid"/>
          </a:ln>
        </p:spPr>
      </p:sp>
      <p:sp>
        <p:nvSpPr>
          <p:cNvPr id="53" name="Shape 51"/>
          <p:cNvSpPr/>
          <p:nvPr/>
        </p:nvSpPr>
        <p:spPr>
          <a:xfrm>
            <a:off x="6765097" y="3125785"/>
            <a:ext cx="64374" cy="64374"/>
          </a:xfrm>
          <a:prstGeom prst="ellipse">
            <a:avLst/>
          </a:prstGeom>
          <a:solidFill>
            <a:srgbClr val="1D95A6"/>
          </a:solidFill>
          <a:ln/>
        </p:spPr>
      </p:sp>
      <p:sp>
        <p:nvSpPr>
          <p:cNvPr id="54" name="Shape 52"/>
          <p:cNvSpPr/>
          <p:nvPr/>
        </p:nvSpPr>
        <p:spPr>
          <a:xfrm>
            <a:off x="6876288" y="2944368"/>
            <a:ext cx="256032" cy="256032"/>
          </a:xfrm>
          <a:prstGeom prst="rect">
            <a:avLst/>
          </a:prstGeom>
          <a:solidFill>
            <a:srgbClr val="DDF4F7"/>
          </a:solidFill>
          <a:ln w="9525">
            <a:solidFill>
              <a:srgbClr val="2FB8CC"/>
            </a:solidFill>
            <a:prstDash val="solid"/>
          </a:ln>
        </p:spPr>
      </p:sp>
      <p:sp>
        <p:nvSpPr>
          <p:cNvPr id="55" name="Shape 53"/>
          <p:cNvSpPr/>
          <p:nvPr/>
        </p:nvSpPr>
        <p:spPr>
          <a:xfrm>
            <a:off x="7057705" y="3125785"/>
            <a:ext cx="64374" cy="64374"/>
          </a:xfrm>
          <a:prstGeom prst="ellipse">
            <a:avLst/>
          </a:prstGeom>
          <a:solidFill>
            <a:srgbClr val="1D95A6"/>
          </a:solidFill>
          <a:ln/>
        </p:spPr>
      </p:sp>
      <p:sp>
        <p:nvSpPr>
          <p:cNvPr id="56" name="Shape 54"/>
          <p:cNvSpPr/>
          <p:nvPr/>
        </p:nvSpPr>
        <p:spPr>
          <a:xfrm>
            <a:off x="7168896" y="2944368"/>
            <a:ext cx="256032" cy="256032"/>
          </a:xfrm>
          <a:prstGeom prst="rect">
            <a:avLst/>
          </a:prstGeom>
          <a:solidFill>
            <a:srgbClr val="DDF4F7"/>
          </a:solidFill>
          <a:ln w="9525">
            <a:solidFill>
              <a:srgbClr val="2FB8CC"/>
            </a:solidFill>
            <a:prstDash val="solid"/>
          </a:ln>
        </p:spPr>
      </p:sp>
      <p:sp>
        <p:nvSpPr>
          <p:cNvPr id="57" name="Shape 55"/>
          <p:cNvSpPr/>
          <p:nvPr/>
        </p:nvSpPr>
        <p:spPr>
          <a:xfrm>
            <a:off x="7350313" y="3125785"/>
            <a:ext cx="64374" cy="64374"/>
          </a:xfrm>
          <a:prstGeom prst="ellipse">
            <a:avLst/>
          </a:prstGeom>
          <a:solidFill>
            <a:srgbClr val="1D95A6"/>
          </a:solidFill>
          <a:ln/>
        </p:spPr>
      </p:sp>
      <p:sp>
        <p:nvSpPr>
          <p:cNvPr id="58" name="Shape 56"/>
          <p:cNvSpPr/>
          <p:nvPr/>
        </p:nvSpPr>
        <p:spPr>
          <a:xfrm>
            <a:off x="7461504" y="2944368"/>
            <a:ext cx="256032" cy="256032"/>
          </a:xfrm>
          <a:prstGeom prst="rect">
            <a:avLst/>
          </a:prstGeom>
          <a:solidFill>
            <a:srgbClr val="DDF4F7"/>
          </a:solidFill>
          <a:ln w="9525">
            <a:solidFill>
              <a:srgbClr val="2FB8CC"/>
            </a:solidFill>
            <a:prstDash val="solid"/>
          </a:ln>
        </p:spPr>
      </p:sp>
      <p:sp>
        <p:nvSpPr>
          <p:cNvPr id="59" name="Shape 57"/>
          <p:cNvSpPr/>
          <p:nvPr/>
        </p:nvSpPr>
        <p:spPr>
          <a:xfrm>
            <a:off x="7642921" y="3125785"/>
            <a:ext cx="64374" cy="64374"/>
          </a:xfrm>
          <a:prstGeom prst="ellipse">
            <a:avLst/>
          </a:prstGeom>
          <a:solidFill>
            <a:srgbClr val="1D95A6"/>
          </a:solidFill>
          <a:ln/>
        </p:spPr>
      </p:sp>
      <p:sp>
        <p:nvSpPr>
          <p:cNvPr id="60" name="Shape 58"/>
          <p:cNvSpPr/>
          <p:nvPr/>
        </p:nvSpPr>
        <p:spPr>
          <a:xfrm>
            <a:off x="7754112" y="2944368"/>
            <a:ext cx="256032" cy="256032"/>
          </a:xfrm>
          <a:prstGeom prst="rect">
            <a:avLst/>
          </a:prstGeom>
          <a:solidFill>
            <a:srgbClr val="DDF4F7"/>
          </a:solidFill>
          <a:ln w="9525">
            <a:solidFill>
              <a:srgbClr val="2FB8CC"/>
            </a:solidFill>
            <a:prstDash val="solid"/>
          </a:ln>
        </p:spPr>
      </p:sp>
      <p:sp>
        <p:nvSpPr>
          <p:cNvPr id="61" name="Shape 59"/>
          <p:cNvSpPr/>
          <p:nvPr/>
        </p:nvSpPr>
        <p:spPr>
          <a:xfrm>
            <a:off x="7935529" y="3125785"/>
            <a:ext cx="64374" cy="64374"/>
          </a:xfrm>
          <a:prstGeom prst="ellipse">
            <a:avLst/>
          </a:prstGeom>
          <a:solidFill>
            <a:srgbClr val="1D95A6"/>
          </a:solidFill>
          <a:ln/>
        </p:spPr>
      </p:sp>
      <p:sp>
        <p:nvSpPr>
          <p:cNvPr id="62" name="Shape 60"/>
          <p:cNvSpPr/>
          <p:nvPr/>
        </p:nvSpPr>
        <p:spPr>
          <a:xfrm>
            <a:off x="8046720" y="2944368"/>
            <a:ext cx="256032" cy="256032"/>
          </a:xfrm>
          <a:prstGeom prst="rect">
            <a:avLst/>
          </a:prstGeom>
          <a:solidFill>
            <a:srgbClr val="DDF4F7"/>
          </a:solidFill>
          <a:ln w="9525">
            <a:solidFill>
              <a:srgbClr val="2FB8CC"/>
            </a:solidFill>
            <a:prstDash val="solid"/>
          </a:ln>
        </p:spPr>
      </p:sp>
      <p:sp>
        <p:nvSpPr>
          <p:cNvPr id="63" name="Shape 61"/>
          <p:cNvSpPr/>
          <p:nvPr/>
        </p:nvSpPr>
        <p:spPr>
          <a:xfrm>
            <a:off x="8228137" y="3125785"/>
            <a:ext cx="64374" cy="64374"/>
          </a:xfrm>
          <a:prstGeom prst="ellipse">
            <a:avLst/>
          </a:prstGeom>
          <a:solidFill>
            <a:srgbClr val="1D95A6"/>
          </a:solidFill>
          <a:ln/>
        </p:spPr>
      </p:sp>
      <p:sp>
        <p:nvSpPr>
          <p:cNvPr id="64" name="Shape 62"/>
          <p:cNvSpPr/>
          <p:nvPr/>
        </p:nvSpPr>
        <p:spPr>
          <a:xfrm>
            <a:off x="6583680" y="3236976"/>
            <a:ext cx="256032" cy="256032"/>
          </a:xfrm>
          <a:prstGeom prst="rect">
            <a:avLst/>
          </a:prstGeom>
          <a:solidFill>
            <a:srgbClr val="DDF4F7"/>
          </a:solidFill>
          <a:ln w="9525">
            <a:solidFill>
              <a:srgbClr val="2FB8CC"/>
            </a:solidFill>
            <a:prstDash val="solid"/>
          </a:ln>
        </p:spPr>
      </p:sp>
      <p:sp>
        <p:nvSpPr>
          <p:cNvPr id="65" name="Shape 63"/>
          <p:cNvSpPr/>
          <p:nvPr/>
        </p:nvSpPr>
        <p:spPr>
          <a:xfrm>
            <a:off x="6765097" y="3418393"/>
            <a:ext cx="64374" cy="64374"/>
          </a:xfrm>
          <a:prstGeom prst="ellipse">
            <a:avLst/>
          </a:prstGeom>
          <a:solidFill>
            <a:srgbClr val="1D95A6"/>
          </a:solidFill>
          <a:ln/>
        </p:spPr>
      </p:sp>
      <p:sp>
        <p:nvSpPr>
          <p:cNvPr id="66" name="Shape 64"/>
          <p:cNvSpPr/>
          <p:nvPr/>
        </p:nvSpPr>
        <p:spPr>
          <a:xfrm>
            <a:off x="6876288" y="3236976"/>
            <a:ext cx="256032" cy="256032"/>
          </a:xfrm>
          <a:prstGeom prst="rect">
            <a:avLst/>
          </a:prstGeom>
          <a:solidFill>
            <a:srgbClr val="DDF4F7"/>
          </a:solidFill>
          <a:ln w="9525">
            <a:solidFill>
              <a:srgbClr val="2FB8CC"/>
            </a:solidFill>
            <a:prstDash val="solid"/>
          </a:ln>
        </p:spPr>
      </p:sp>
      <p:sp>
        <p:nvSpPr>
          <p:cNvPr id="67" name="Shape 65"/>
          <p:cNvSpPr/>
          <p:nvPr/>
        </p:nvSpPr>
        <p:spPr>
          <a:xfrm>
            <a:off x="7057705" y="3418393"/>
            <a:ext cx="64374" cy="64374"/>
          </a:xfrm>
          <a:prstGeom prst="ellipse">
            <a:avLst/>
          </a:prstGeom>
          <a:solidFill>
            <a:srgbClr val="1D95A6"/>
          </a:solidFill>
          <a:ln/>
        </p:spPr>
      </p:sp>
      <p:sp>
        <p:nvSpPr>
          <p:cNvPr id="68" name="Shape 66"/>
          <p:cNvSpPr/>
          <p:nvPr/>
        </p:nvSpPr>
        <p:spPr>
          <a:xfrm>
            <a:off x="7168896" y="3236976"/>
            <a:ext cx="256032" cy="256032"/>
          </a:xfrm>
          <a:prstGeom prst="rect">
            <a:avLst/>
          </a:prstGeom>
          <a:solidFill>
            <a:srgbClr val="DDF4F7"/>
          </a:solidFill>
          <a:ln w="9525">
            <a:solidFill>
              <a:srgbClr val="2FB8CC"/>
            </a:solidFill>
            <a:prstDash val="solid"/>
          </a:ln>
        </p:spPr>
      </p:sp>
      <p:sp>
        <p:nvSpPr>
          <p:cNvPr id="69" name="Shape 67"/>
          <p:cNvSpPr/>
          <p:nvPr/>
        </p:nvSpPr>
        <p:spPr>
          <a:xfrm>
            <a:off x="7350313" y="3418393"/>
            <a:ext cx="64374" cy="64374"/>
          </a:xfrm>
          <a:prstGeom prst="ellipse">
            <a:avLst/>
          </a:prstGeom>
          <a:solidFill>
            <a:srgbClr val="1D95A6"/>
          </a:solidFill>
          <a:ln/>
        </p:spPr>
      </p:sp>
      <p:sp>
        <p:nvSpPr>
          <p:cNvPr id="70" name="Shape 68"/>
          <p:cNvSpPr/>
          <p:nvPr/>
        </p:nvSpPr>
        <p:spPr>
          <a:xfrm>
            <a:off x="7461504" y="3236976"/>
            <a:ext cx="256032" cy="256032"/>
          </a:xfrm>
          <a:prstGeom prst="rect">
            <a:avLst/>
          </a:prstGeom>
          <a:solidFill>
            <a:srgbClr val="DDF4F7"/>
          </a:solidFill>
          <a:ln w="9525">
            <a:solidFill>
              <a:srgbClr val="2FB8CC"/>
            </a:solidFill>
            <a:prstDash val="solid"/>
          </a:ln>
        </p:spPr>
      </p:sp>
      <p:sp>
        <p:nvSpPr>
          <p:cNvPr id="71" name="Shape 69"/>
          <p:cNvSpPr/>
          <p:nvPr/>
        </p:nvSpPr>
        <p:spPr>
          <a:xfrm>
            <a:off x="7642921" y="3418393"/>
            <a:ext cx="64374" cy="64374"/>
          </a:xfrm>
          <a:prstGeom prst="ellipse">
            <a:avLst/>
          </a:prstGeom>
          <a:solidFill>
            <a:srgbClr val="1D95A6"/>
          </a:solidFill>
          <a:ln/>
        </p:spPr>
      </p:sp>
      <p:sp>
        <p:nvSpPr>
          <p:cNvPr id="72" name="Shape 70"/>
          <p:cNvSpPr/>
          <p:nvPr/>
        </p:nvSpPr>
        <p:spPr>
          <a:xfrm>
            <a:off x="7754112" y="3236976"/>
            <a:ext cx="256032" cy="256032"/>
          </a:xfrm>
          <a:prstGeom prst="rect">
            <a:avLst/>
          </a:prstGeom>
          <a:solidFill>
            <a:srgbClr val="DDF4F7"/>
          </a:solidFill>
          <a:ln w="9525">
            <a:solidFill>
              <a:srgbClr val="2FB8CC"/>
            </a:solidFill>
            <a:prstDash val="solid"/>
          </a:ln>
        </p:spPr>
      </p:sp>
      <p:sp>
        <p:nvSpPr>
          <p:cNvPr id="73" name="Shape 71"/>
          <p:cNvSpPr/>
          <p:nvPr/>
        </p:nvSpPr>
        <p:spPr>
          <a:xfrm>
            <a:off x="7935529" y="3418393"/>
            <a:ext cx="64374" cy="64374"/>
          </a:xfrm>
          <a:prstGeom prst="ellipse">
            <a:avLst/>
          </a:prstGeom>
          <a:solidFill>
            <a:srgbClr val="1D95A6"/>
          </a:solidFill>
          <a:ln/>
        </p:spPr>
      </p:sp>
      <p:sp>
        <p:nvSpPr>
          <p:cNvPr id="74" name="Shape 72"/>
          <p:cNvSpPr/>
          <p:nvPr/>
        </p:nvSpPr>
        <p:spPr>
          <a:xfrm>
            <a:off x="8046720" y="3236976"/>
            <a:ext cx="256032" cy="256032"/>
          </a:xfrm>
          <a:prstGeom prst="rect">
            <a:avLst/>
          </a:prstGeom>
          <a:solidFill>
            <a:srgbClr val="DDF4F7"/>
          </a:solidFill>
          <a:ln w="9525">
            <a:solidFill>
              <a:srgbClr val="2FB8CC"/>
            </a:solidFill>
            <a:prstDash val="solid"/>
          </a:ln>
        </p:spPr>
      </p:sp>
      <p:sp>
        <p:nvSpPr>
          <p:cNvPr id="75" name="Shape 73"/>
          <p:cNvSpPr/>
          <p:nvPr/>
        </p:nvSpPr>
        <p:spPr>
          <a:xfrm>
            <a:off x="8228137" y="3418393"/>
            <a:ext cx="64374" cy="64374"/>
          </a:xfrm>
          <a:prstGeom prst="ellipse">
            <a:avLst/>
          </a:prstGeom>
          <a:solidFill>
            <a:srgbClr val="1D95A6"/>
          </a:solidFill>
          <a:ln/>
        </p:spPr>
      </p:sp>
      <p:sp>
        <p:nvSpPr>
          <p:cNvPr id="76" name="Shape 74"/>
          <p:cNvSpPr/>
          <p:nvPr/>
        </p:nvSpPr>
        <p:spPr>
          <a:xfrm>
            <a:off x="6583680" y="3529584"/>
            <a:ext cx="256032" cy="256032"/>
          </a:xfrm>
          <a:prstGeom prst="rect">
            <a:avLst/>
          </a:prstGeom>
          <a:solidFill>
            <a:srgbClr val="DDF4F7"/>
          </a:solidFill>
          <a:ln w="9525">
            <a:solidFill>
              <a:srgbClr val="2FB8CC"/>
            </a:solidFill>
            <a:prstDash val="solid"/>
          </a:ln>
        </p:spPr>
      </p:sp>
      <p:sp>
        <p:nvSpPr>
          <p:cNvPr id="77" name="Shape 75"/>
          <p:cNvSpPr/>
          <p:nvPr/>
        </p:nvSpPr>
        <p:spPr>
          <a:xfrm>
            <a:off x="6765097" y="3711001"/>
            <a:ext cx="64374" cy="64374"/>
          </a:xfrm>
          <a:prstGeom prst="ellipse">
            <a:avLst/>
          </a:prstGeom>
          <a:solidFill>
            <a:srgbClr val="1D95A6"/>
          </a:solidFill>
          <a:ln/>
        </p:spPr>
      </p:sp>
      <p:sp>
        <p:nvSpPr>
          <p:cNvPr id="78" name="Shape 76"/>
          <p:cNvSpPr/>
          <p:nvPr/>
        </p:nvSpPr>
        <p:spPr>
          <a:xfrm>
            <a:off x="6876288" y="3529584"/>
            <a:ext cx="256032" cy="256032"/>
          </a:xfrm>
          <a:prstGeom prst="rect">
            <a:avLst/>
          </a:prstGeom>
          <a:solidFill>
            <a:srgbClr val="DDF4F7"/>
          </a:solidFill>
          <a:ln w="9525">
            <a:solidFill>
              <a:srgbClr val="2FB8CC"/>
            </a:solidFill>
            <a:prstDash val="solid"/>
          </a:ln>
        </p:spPr>
      </p:sp>
      <p:sp>
        <p:nvSpPr>
          <p:cNvPr id="79" name="Shape 77"/>
          <p:cNvSpPr/>
          <p:nvPr/>
        </p:nvSpPr>
        <p:spPr>
          <a:xfrm>
            <a:off x="7057705" y="3711001"/>
            <a:ext cx="64374" cy="64374"/>
          </a:xfrm>
          <a:prstGeom prst="ellipse">
            <a:avLst/>
          </a:prstGeom>
          <a:solidFill>
            <a:srgbClr val="1D95A6"/>
          </a:solidFill>
          <a:ln/>
        </p:spPr>
      </p:sp>
      <p:sp>
        <p:nvSpPr>
          <p:cNvPr id="80" name="Shape 78"/>
          <p:cNvSpPr/>
          <p:nvPr/>
        </p:nvSpPr>
        <p:spPr>
          <a:xfrm>
            <a:off x="7168896" y="3529584"/>
            <a:ext cx="256032" cy="256032"/>
          </a:xfrm>
          <a:prstGeom prst="rect">
            <a:avLst/>
          </a:prstGeom>
          <a:solidFill>
            <a:srgbClr val="DDF4F7"/>
          </a:solidFill>
          <a:ln w="9525">
            <a:solidFill>
              <a:srgbClr val="2FB8CC"/>
            </a:solidFill>
            <a:prstDash val="solid"/>
          </a:ln>
        </p:spPr>
      </p:sp>
      <p:sp>
        <p:nvSpPr>
          <p:cNvPr id="81" name="Shape 79"/>
          <p:cNvSpPr/>
          <p:nvPr/>
        </p:nvSpPr>
        <p:spPr>
          <a:xfrm>
            <a:off x="7350313" y="3711001"/>
            <a:ext cx="64374" cy="64374"/>
          </a:xfrm>
          <a:prstGeom prst="ellipse">
            <a:avLst/>
          </a:prstGeom>
          <a:solidFill>
            <a:srgbClr val="1D95A6"/>
          </a:solidFill>
          <a:ln/>
        </p:spPr>
      </p:sp>
      <p:sp>
        <p:nvSpPr>
          <p:cNvPr id="82" name="Shape 80"/>
          <p:cNvSpPr/>
          <p:nvPr/>
        </p:nvSpPr>
        <p:spPr>
          <a:xfrm>
            <a:off x="7461504" y="3529584"/>
            <a:ext cx="256032" cy="256032"/>
          </a:xfrm>
          <a:prstGeom prst="rect">
            <a:avLst/>
          </a:prstGeom>
          <a:solidFill>
            <a:srgbClr val="DDF4F7"/>
          </a:solidFill>
          <a:ln w="9525">
            <a:solidFill>
              <a:srgbClr val="2FB8CC"/>
            </a:solidFill>
            <a:prstDash val="solid"/>
          </a:ln>
        </p:spPr>
      </p:sp>
      <p:sp>
        <p:nvSpPr>
          <p:cNvPr id="83" name="Shape 81"/>
          <p:cNvSpPr/>
          <p:nvPr/>
        </p:nvSpPr>
        <p:spPr>
          <a:xfrm>
            <a:off x="7642921" y="3711001"/>
            <a:ext cx="64374" cy="64374"/>
          </a:xfrm>
          <a:prstGeom prst="ellipse">
            <a:avLst/>
          </a:prstGeom>
          <a:solidFill>
            <a:srgbClr val="1D95A6"/>
          </a:solidFill>
          <a:ln/>
        </p:spPr>
      </p:sp>
      <p:sp>
        <p:nvSpPr>
          <p:cNvPr id="84" name="Shape 82"/>
          <p:cNvSpPr/>
          <p:nvPr/>
        </p:nvSpPr>
        <p:spPr>
          <a:xfrm>
            <a:off x="7754112" y="3529584"/>
            <a:ext cx="256032" cy="256032"/>
          </a:xfrm>
          <a:prstGeom prst="rect">
            <a:avLst/>
          </a:prstGeom>
          <a:solidFill>
            <a:srgbClr val="DDF4F7"/>
          </a:solidFill>
          <a:ln w="9525">
            <a:solidFill>
              <a:srgbClr val="2FB8CC"/>
            </a:solidFill>
            <a:prstDash val="solid"/>
          </a:ln>
        </p:spPr>
      </p:sp>
      <p:sp>
        <p:nvSpPr>
          <p:cNvPr id="85" name="Shape 83"/>
          <p:cNvSpPr/>
          <p:nvPr/>
        </p:nvSpPr>
        <p:spPr>
          <a:xfrm>
            <a:off x="7935529" y="3711001"/>
            <a:ext cx="64374" cy="64374"/>
          </a:xfrm>
          <a:prstGeom prst="ellipse">
            <a:avLst/>
          </a:prstGeom>
          <a:solidFill>
            <a:srgbClr val="1D95A6"/>
          </a:solidFill>
          <a:ln/>
        </p:spPr>
      </p:sp>
      <p:sp>
        <p:nvSpPr>
          <p:cNvPr id="86" name="Shape 84"/>
          <p:cNvSpPr/>
          <p:nvPr/>
        </p:nvSpPr>
        <p:spPr>
          <a:xfrm>
            <a:off x="8046720" y="3529584"/>
            <a:ext cx="256032" cy="256032"/>
          </a:xfrm>
          <a:prstGeom prst="rect">
            <a:avLst/>
          </a:prstGeom>
          <a:solidFill>
            <a:srgbClr val="DDF4F7"/>
          </a:solidFill>
          <a:ln w="9525">
            <a:solidFill>
              <a:srgbClr val="2FB8CC"/>
            </a:solidFill>
            <a:prstDash val="solid"/>
          </a:ln>
        </p:spPr>
      </p:sp>
      <p:sp>
        <p:nvSpPr>
          <p:cNvPr id="87" name="Shape 85"/>
          <p:cNvSpPr/>
          <p:nvPr/>
        </p:nvSpPr>
        <p:spPr>
          <a:xfrm>
            <a:off x="8228137" y="3711001"/>
            <a:ext cx="64374" cy="64374"/>
          </a:xfrm>
          <a:prstGeom prst="ellipse">
            <a:avLst/>
          </a:prstGeom>
          <a:solidFill>
            <a:srgbClr val="1D95A6"/>
          </a:solidFill>
          <a:ln/>
        </p:spPr>
      </p:sp>
      <p:sp>
        <p:nvSpPr>
          <p:cNvPr id="88" name="Shape 86"/>
          <p:cNvSpPr/>
          <p:nvPr/>
        </p:nvSpPr>
        <p:spPr>
          <a:xfrm>
            <a:off x="6583680" y="3895344"/>
            <a:ext cx="1719072" cy="201168"/>
          </a:xfrm>
          <a:prstGeom prst="rect">
            <a:avLst/>
          </a:prstGeom>
          <a:solidFill>
            <a:srgbClr val="2FB8CC"/>
          </a:solidFill>
          <a:ln/>
        </p:spPr>
      </p:sp>
      <p:sp>
        <p:nvSpPr>
          <p:cNvPr id="89" name="Text 87"/>
          <p:cNvSpPr/>
          <p:nvPr/>
        </p:nvSpPr>
        <p:spPr>
          <a:xfrm>
            <a:off x="6583680" y="4151376"/>
            <a:ext cx="4846320" cy="41148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Pixel array → in-pixel amps → column-parallel ADCs → digital bus</a:t>
            </a:r>
            <a:endParaRPr lang="en-US" sz="1000" dirty="0"/>
          </a:p>
        </p:txBody>
      </p:sp>
      <p:sp>
        <p:nvSpPr>
          <p:cNvPr id="90" name="Text 88"/>
          <p:cNvSpPr/>
          <p:nvPr/>
        </p:nvSpPr>
        <p:spPr>
          <a:xfrm>
            <a:off x="6583680" y="4645152"/>
            <a:ext cx="4800600" cy="1463040"/>
          </a:xfrm>
          <a:prstGeom prst="rect">
            <a:avLst/>
          </a:prstGeom>
          <a:noFill/>
          <a:ln/>
        </p:spPr>
        <p:txBody>
          <a:bodyPr wrap="square" rtlCol="0" anchor="ctr"/>
          <a:lstStyle/>
          <a:p>
            <a:pPr marL="342900" indent="-342900">
              <a:lnSpc>
                <a:spcPct val="110000"/>
              </a:lnSpc>
              <a:spcAft>
                <a:spcPts val="600"/>
              </a:spcAft>
              <a:buSzPct val="100000"/>
              <a:buChar char="•"/>
            </a:pPr>
            <a:r>
              <a:rPr lang="en-US" sz="1150" dirty="0">
                <a:solidFill>
                  <a:srgbClr val="0B1D33"/>
                </a:solidFill>
                <a:latin typeface="Calibri" pitchFamily="34" charset="0"/>
                <a:ea typeface="Calibri" pitchFamily="34" charset="-122"/>
                <a:cs typeface="Calibri" pitchFamily="34" charset="-120"/>
              </a:rPr>
              <a:t>Each pixel has its own amplifier (3T/4T design)</a:t>
            </a:r>
            <a:endParaRPr lang="en-US" sz="1150" dirty="0"/>
          </a:p>
          <a:p>
            <a:pPr marL="342900" indent="-342900">
              <a:lnSpc>
                <a:spcPct val="110000"/>
              </a:lnSpc>
              <a:spcAft>
                <a:spcPts val="600"/>
              </a:spcAft>
              <a:buSzPct val="100000"/>
              <a:buChar char="•"/>
            </a:pPr>
            <a:r>
              <a:rPr lang="en-US" sz="1150" dirty="0">
                <a:solidFill>
                  <a:srgbClr val="0B1D33"/>
                </a:solidFill>
                <a:latin typeface="Calibri" pitchFamily="34" charset="0"/>
                <a:ea typeface="Calibri" pitchFamily="34" charset="-122"/>
                <a:cs typeface="Calibri" pitchFamily="34" charset="-120"/>
              </a:rPr>
              <a:t>Column-parallel ADCs digitize many pixels simultaneously</a:t>
            </a:r>
            <a:endParaRPr lang="en-US" sz="1150" dirty="0"/>
          </a:p>
          <a:p>
            <a:pPr marL="342900" indent="-342900">
              <a:lnSpc>
                <a:spcPct val="110000"/>
              </a:lnSpc>
              <a:spcAft>
                <a:spcPts val="600"/>
              </a:spcAft>
              <a:buSzPct val="100000"/>
              <a:buChar char="•"/>
            </a:pPr>
            <a:r>
              <a:rPr lang="en-US" sz="1150" dirty="0">
                <a:solidFill>
                  <a:srgbClr val="0B1D33"/>
                </a:solidFill>
                <a:latin typeface="Calibri" pitchFamily="34" charset="0"/>
                <a:ea typeface="Calibri" pitchFamily="34" charset="-122"/>
                <a:cs typeface="Calibri" pitchFamily="34" charset="-120"/>
              </a:rPr>
              <a:t>Standard CMOS fab integrates logic, timing, and ADC on-die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20240" cy="365760"/>
          </a:xfrm>
          <a:prstGeom prst="roundRect">
            <a:avLst>
              <a:gd name="adj" fmla="val 15000"/>
            </a:avLst>
          </a:prstGeom>
          <a:solidFill>
            <a:srgbClr val="0B1D33"/>
          </a:solidFill>
          <a:ln/>
        </p:spPr>
      </p:sp>
      <p:sp>
        <p:nvSpPr>
          <p:cNvPr id="3" name="Text 1"/>
          <p:cNvSpPr/>
          <p:nvPr/>
        </p:nvSpPr>
        <p:spPr>
          <a:xfrm>
            <a:off x="548640" y="411480"/>
            <a:ext cx="1920240" cy="365760"/>
          </a:xfrm>
          <a:prstGeom prst="rect">
            <a:avLst/>
          </a:prstGeom>
          <a:noFill/>
          <a:ln/>
        </p:spPr>
        <p:txBody>
          <a:bodyPr wrap="square" rtlCol="0" anchor="ctr"/>
          <a:lstStyle/>
          <a:p>
            <a:pPr algn="ctr" indent="0" marL="0">
              <a:buNone/>
            </a:pPr>
            <a:r>
              <a:rPr lang="en-US" sz="1100" b="1" spc="100" kern="0" dirty="0">
                <a:solidFill>
                  <a:srgbClr val="2FB8CC"/>
                </a:solidFill>
                <a:latin typeface="Calibri" pitchFamily="34" charset="0"/>
                <a:ea typeface="Calibri" pitchFamily="34" charset="-122"/>
                <a:cs typeface="Calibri" pitchFamily="34" charset="-120"/>
              </a:rPr>
              <a:t>OBJECTIVES</a:t>
            </a:r>
            <a:endParaRPr lang="en-US" sz="1100" dirty="0"/>
          </a:p>
        </p:txBody>
      </p:sp>
      <p:sp>
        <p:nvSpPr>
          <p:cNvPr id="4" name="Text 2"/>
          <p:cNvSpPr/>
          <p:nvPr/>
        </p:nvSpPr>
        <p:spPr>
          <a:xfrm>
            <a:off x="548640" y="914400"/>
            <a:ext cx="10058400" cy="548640"/>
          </a:xfrm>
          <a:prstGeom prst="rect">
            <a:avLst/>
          </a:prstGeom>
          <a:noFill/>
          <a:ln/>
        </p:spPr>
        <p:txBody>
          <a:bodyPr wrap="square" rtlCol="0" anchor="ctr"/>
          <a:lstStyle/>
          <a:p>
            <a:pPr indent="0" marL="0">
              <a:buNone/>
            </a:pPr>
            <a:r>
              <a:rPr lang="en-US" sz="2800" b="1" dirty="0">
                <a:solidFill>
                  <a:srgbClr val="0B1D33"/>
                </a:solidFill>
                <a:latin typeface="Cambria" pitchFamily="34" charset="0"/>
                <a:ea typeface="Cambria" pitchFamily="34" charset="-122"/>
                <a:cs typeface="Cambria" pitchFamily="34" charset="-120"/>
              </a:rPr>
              <a:t>What This Comparison Sets Out to Establish</a:t>
            </a:r>
            <a:endParaRPr lang="en-US" sz="2800" dirty="0"/>
          </a:p>
        </p:txBody>
      </p:sp>
      <p:sp>
        <p:nvSpPr>
          <p:cNvPr id="5" name="Shape 3"/>
          <p:cNvSpPr/>
          <p:nvPr/>
        </p:nvSpPr>
        <p:spPr>
          <a:xfrm>
            <a:off x="548640" y="1691640"/>
            <a:ext cx="5257800" cy="1920240"/>
          </a:xfrm>
          <a:prstGeom prst="roundRect">
            <a:avLst>
              <a:gd name="adj" fmla="val 3810"/>
            </a:avLst>
          </a:prstGeom>
          <a:solidFill>
            <a:srgbClr val="F6F8FA"/>
          </a:solidFill>
          <a:ln w="12700">
            <a:solidFill>
              <a:srgbClr val="DCE3EB"/>
            </a:solidFill>
            <a:prstDash val="solid"/>
          </a:ln>
        </p:spPr>
      </p:sp>
      <p:sp>
        <p:nvSpPr>
          <p:cNvPr id="6" name="Shape 4"/>
          <p:cNvSpPr/>
          <p:nvPr/>
        </p:nvSpPr>
        <p:spPr>
          <a:xfrm>
            <a:off x="804672" y="1947672"/>
            <a:ext cx="384048" cy="384048"/>
          </a:xfrm>
          <a:prstGeom prst="ellipse">
            <a:avLst/>
          </a:prstGeom>
          <a:solidFill>
            <a:srgbClr val="F2A93B"/>
          </a:solidFill>
          <a:ln/>
        </p:spPr>
      </p:sp>
      <p:sp>
        <p:nvSpPr>
          <p:cNvPr id="7" name="Text 5"/>
          <p:cNvSpPr/>
          <p:nvPr/>
        </p:nvSpPr>
        <p:spPr>
          <a:xfrm>
            <a:off x="804672" y="1947672"/>
            <a:ext cx="384048" cy="384048"/>
          </a:xfrm>
          <a:prstGeom prst="rect">
            <a:avLst/>
          </a:prstGeom>
          <a:noFill/>
          <a:ln/>
        </p:spPr>
        <p:txBody>
          <a:bodyPr wrap="square" rtlCol="0" anchor="ctr"/>
          <a:lstStyle/>
          <a:p>
            <a:pPr algn="ctr" indent="0" marL="0">
              <a:buNone/>
            </a:pPr>
            <a:r>
              <a:rPr lang="en-US" sz="1400" b="1" dirty="0">
                <a:solidFill>
                  <a:srgbClr val="0B1D33"/>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25880" y="1892808"/>
            <a:ext cx="4251960" cy="457200"/>
          </a:xfrm>
          <a:prstGeom prst="rect">
            <a:avLst/>
          </a:prstGeom>
          <a:noFill/>
          <a:ln/>
        </p:spPr>
        <p:txBody>
          <a:bodyPr wrap="square" rtlCol="0" anchor="ctr"/>
          <a:lstStyle/>
          <a:p>
            <a:pPr indent="0" marL="0">
              <a:buNone/>
            </a:pPr>
            <a:r>
              <a:rPr lang="en-US" sz="1500" b="1" dirty="0">
                <a:solidFill>
                  <a:srgbClr val="0B1D33"/>
                </a:solidFill>
                <a:latin typeface="Cambria" pitchFamily="34" charset="0"/>
                <a:ea typeface="Cambria" pitchFamily="34" charset="-122"/>
                <a:cs typeface="Cambria" pitchFamily="34" charset="-120"/>
              </a:rPr>
              <a:t>Explain the architecture</a:t>
            </a:r>
            <a:endParaRPr lang="en-US" sz="1500" dirty="0"/>
          </a:p>
        </p:txBody>
      </p:sp>
      <p:sp>
        <p:nvSpPr>
          <p:cNvPr id="9" name="Text 7"/>
          <p:cNvSpPr/>
          <p:nvPr/>
        </p:nvSpPr>
        <p:spPr>
          <a:xfrm>
            <a:off x="1325880" y="2350008"/>
            <a:ext cx="4251960" cy="1143000"/>
          </a:xfrm>
          <a:prstGeom prst="rect">
            <a:avLst/>
          </a:prstGeom>
          <a:noFill/>
          <a:ln/>
        </p:spPr>
        <p:txBody>
          <a:bodyPr wrap="square" rtlCol="0" anchor="ctr"/>
          <a:lstStyle/>
          <a:p>
            <a:pPr indent="0" marL="0">
              <a:lnSpc>
                <a:spcPct val="115000"/>
              </a:lnSpc>
              <a:buNone/>
            </a:pPr>
            <a:r>
              <a:rPr lang="en-US" sz="1150" dirty="0">
                <a:solidFill>
                  <a:srgbClr val="5B6B82"/>
                </a:solidFill>
                <a:latin typeface="Calibri" pitchFamily="34" charset="0"/>
                <a:ea typeface="Calibri" pitchFamily="34" charset="-122"/>
                <a:cs typeface="Calibri" pitchFamily="34" charset="-120"/>
              </a:rPr>
              <a:t>Describe how CCD and CMOS sensors convert light to a digital signal, and where their signal paths diverge</a:t>
            </a:r>
            <a:endParaRPr lang="en-US" sz="1150" dirty="0"/>
          </a:p>
        </p:txBody>
      </p:sp>
      <p:sp>
        <p:nvSpPr>
          <p:cNvPr id="10" name="Shape 8"/>
          <p:cNvSpPr/>
          <p:nvPr/>
        </p:nvSpPr>
        <p:spPr>
          <a:xfrm>
            <a:off x="6172200" y="1691640"/>
            <a:ext cx="5257800" cy="1920240"/>
          </a:xfrm>
          <a:prstGeom prst="roundRect">
            <a:avLst>
              <a:gd name="adj" fmla="val 3810"/>
            </a:avLst>
          </a:prstGeom>
          <a:solidFill>
            <a:srgbClr val="F6F8FA"/>
          </a:solidFill>
          <a:ln w="12700">
            <a:solidFill>
              <a:srgbClr val="DCE3EB"/>
            </a:solidFill>
            <a:prstDash val="solid"/>
          </a:ln>
        </p:spPr>
      </p:sp>
      <p:sp>
        <p:nvSpPr>
          <p:cNvPr id="11" name="Shape 9"/>
          <p:cNvSpPr/>
          <p:nvPr/>
        </p:nvSpPr>
        <p:spPr>
          <a:xfrm>
            <a:off x="6428232" y="1947672"/>
            <a:ext cx="384048" cy="384048"/>
          </a:xfrm>
          <a:prstGeom prst="ellipse">
            <a:avLst/>
          </a:prstGeom>
          <a:solidFill>
            <a:srgbClr val="2FB8CC"/>
          </a:solidFill>
          <a:ln/>
        </p:spPr>
      </p:sp>
      <p:sp>
        <p:nvSpPr>
          <p:cNvPr id="12" name="Text 10"/>
          <p:cNvSpPr/>
          <p:nvPr/>
        </p:nvSpPr>
        <p:spPr>
          <a:xfrm>
            <a:off x="6428232" y="1947672"/>
            <a:ext cx="384048" cy="384048"/>
          </a:xfrm>
          <a:prstGeom prst="rect">
            <a:avLst/>
          </a:prstGeom>
          <a:noFill/>
          <a:ln/>
        </p:spPr>
        <p:txBody>
          <a:bodyPr wrap="square" rtlCol="0" anchor="ctr"/>
          <a:lstStyle/>
          <a:p>
            <a:pPr algn="ctr" indent="0" marL="0">
              <a:buNone/>
            </a:pPr>
            <a:r>
              <a:rPr lang="en-US" sz="1400" b="1" dirty="0">
                <a:solidFill>
                  <a:srgbClr val="0B1D33"/>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6949440" y="1892808"/>
            <a:ext cx="4251960" cy="457200"/>
          </a:xfrm>
          <a:prstGeom prst="rect">
            <a:avLst/>
          </a:prstGeom>
          <a:noFill/>
          <a:ln/>
        </p:spPr>
        <p:txBody>
          <a:bodyPr wrap="square" rtlCol="0" anchor="ctr"/>
          <a:lstStyle/>
          <a:p>
            <a:pPr indent="0" marL="0">
              <a:buNone/>
            </a:pPr>
            <a:r>
              <a:rPr lang="en-US" sz="1500" b="1" dirty="0">
                <a:solidFill>
                  <a:srgbClr val="0B1D33"/>
                </a:solidFill>
                <a:latin typeface="Cambria" pitchFamily="34" charset="0"/>
                <a:ea typeface="Cambria" pitchFamily="34" charset="-122"/>
                <a:cs typeface="Cambria" pitchFamily="34" charset="-120"/>
              </a:rPr>
              <a:t>Identify engineering trade-offs</a:t>
            </a:r>
            <a:endParaRPr lang="en-US" sz="1500" dirty="0"/>
          </a:p>
        </p:txBody>
      </p:sp>
      <p:sp>
        <p:nvSpPr>
          <p:cNvPr id="14" name="Text 12"/>
          <p:cNvSpPr/>
          <p:nvPr/>
        </p:nvSpPr>
        <p:spPr>
          <a:xfrm>
            <a:off x="6949440" y="2350008"/>
            <a:ext cx="4251960" cy="1143000"/>
          </a:xfrm>
          <a:prstGeom prst="rect">
            <a:avLst/>
          </a:prstGeom>
          <a:noFill/>
          <a:ln/>
        </p:spPr>
        <p:txBody>
          <a:bodyPr wrap="square" rtlCol="0" anchor="ctr"/>
          <a:lstStyle/>
          <a:p>
            <a:pPr indent="0" marL="0">
              <a:lnSpc>
                <a:spcPct val="115000"/>
              </a:lnSpc>
              <a:buNone/>
            </a:pPr>
            <a:r>
              <a:rPr lang="en-US" sz="1150" dirty="0">
                <a:solidFill>
                  <a:srgbClr val="5B6B82"/>
                </a:solidFill>
                <a:latin typeface="Calibri" pitchFamily="34" charset="0"/>
                <a:ea typeface="Calibri" pitchFamily="34" charset="-122"/>
                <a:cs typeface="Calibri" pitchFamily="34" charset="-120"/>
              </a:rPr>
              <a:t>Quantify differences in power, speed, noise, dynamic range, and cost between the two technologies</a:t>
            </a:r>
            <a:endParaRPr lang="en-US" sz="1150" dirty="0"/>
          </a:p>
        </p:txBody>
      </p:sp>
      <p:sp>
        <p:nvSpPr>
          <p:cNvPr id="15" name="Shape 13"/>
          <p:cNvSpPr/>
          <p:nvPr/>
        </p:nvSpPr>
        <p:spPr>
          <a:xfrm>
            <a:off x="548640" y="3931920"/>
            <a:ext cx="5257800" cy="1920240"/>
          </a:xfrm>
          <a:prstGeom prst="roundRect">
            <a:avLst>
              <a:gd name="adj" fmla="val 3810"/>
            </a:avLst>
          </a:prstGeom>
          <a:solidFill>
            <a:srgbClr val="F6F8FA"/>
          </a:solidFill>
          <a:ln w="12700">
            <a:solidFill>
              <a:srgbClr val="DCE3EB"/>
            </a:solidFill>
            <a:prstDash val="solid"/>
          </a:ln>
        </p:spPr>
      </p:sp>
      <p:sp>
        <p:nvSpPr>
          <p:cNvPr id="16" name="Shape 14"/>
          <p:cNvSpPr/>
          <p:nvPr/>
        </p:nvSpPr>
        <p:spPr>
          <a:xfrm>
            <a:off x="804672" y="4187952"/>
            <a:ext cx="384048" cy="384048"/>
          </a:xfrm>
          <a:prstGeom prst="ellipse">
            <a:avLst/>
          </a:prstGeom>
          <a:solidFill>
            <a:srgbClr val="F2A93B"/>
          </a:solidFill>
          <a:ln/>
        </p:spPr>
      </p:sp>
      <p:sp>
        <p:nvSpPr>
          <p:cNvPr id="17" name="Text 15"/>
          <p:cNvSpPr/>
          <p:nvPr/>
        </p:nvSpPr>
        <p:spPr>
          <a:xfrm>
            <a:off x="804672" y="4187952"/>
            <a:ext cx="384048" cy="384048"/>
          </a:xfrm>
          <a:prstGeom prst="rect">
            <a:avLst/>
          </a:prstGeom>
          <a:noFill/>
          <a:ln/>
        </p:spPr>
        <p:txBody>
          <a:bodyPr wrap="square" rtlCol="0" anchor="ctr"/>
          <a:lstStyle/>
          <a:p>
            <a:pPr algn="ctr" indent="0" marL="0">
              <a:buNone/>
            </a:pPr>
            <a:r>
              <a:rPr lang="en-US" sz="1400" b="1" dirty="0">
                <a:solidFill>
                  <a:srgbClr val="0B1D33"/>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325880" y="4133088"/>
            <a:ext cx="4251960" cy="457200"/>
          </a:xfrm>
          <a:prstGeom prst="rect">
            <a:avLst/>
          </a:prstGeom>
          <a:noFill/>
          <a:ln/>
        </p:spPr>
        <p:txBody>
          <a:bodyPr wrap="square" rtlCol="0" anchor="ctr"/>
          <a:lstStyle/>
          <a:p>
            <a:pPr indent="0" marL="0">
              <a:buNone/>
            </a:pPr>
            <a:r>
              <a:rPr lang="en-US" sz="1500" b="1" dirty="0">
                <a:solidFill>
                  <a:srgbClr val="0B1D33"/>
                </a:solidFill>
                <a:latin typeface="Cambria" pitchFamily="34" charset="0"/>
                <a:ea typeface="Cambria" pitchFamily="34" charset="-122"/>
                <a:cs typeface="Cambria" pitchFamily="34" charset="-120"/>
              </a:rPr>
              <a:t>Map technology to application</a:t>
            </a:r>
            <a:endParaRPr lang="en-US" sz="1500" dirty="0"/>
          </a:p>
        </p:txBody>
      </p:sp>
      <p:sp>
        <p:nvSpPr>
          <p:cNvPr id="19" name="Text 17"/>
          <p:cNvSpPr/>
          <p:nvPr/>
        </p:nvSpPr>
        <p:spPr>
          <a:xfrm>
            <a:off x="1325880" y="4590288"/>
            <a:ext cx="4251960" cy="1143000"/>
          </a:xfrm>
          <a:prstGeom prst="rect">
            <a:avLst/>
          </a:prstGeom>
          <a:noFill/>
          <a:ln/>
        </p:spPr>
        <p:txBody>
          <a:bodyPr wrap="square" rtlCol="0" anchor="ctr"/>
          <a:lstStyle/>
          <a:p>
            <a:pPr indent="0" marL="0">
              <a:lnSpc>
                <a:spcPct val="115000"/>
              </a:lnSpc>
              <a:buNone/>
            </a:pPr>
            <a:r>
              <a:rPr lang="en-US" sz="1150" dirty="0">
                <a:solidFill>
                  <a:srgbClr val="5B6B82"/>
                </a:solidFill>
                <a:latin typeface="Calibri" pitchFamily="34" charset="0"/>
                <a:ea typeface="Calibri" pitchFamily="34" charset="-122"/>
                <a:cs typeface="Calibri" pitchFamily="34" charset="-120"/>
              </a:rPr>
              <a:t>Determine which sensor architecture best fits a given use case, from scientific imaging to consumer devices</a:t>
            </a:r>
            <a:endParaRPr lang="en-US" sz="1150" dirty="0"/>
          </a:p>
        </p:txBody>
      </p:sp>
      <p:sp>
        <p:nvSpPr>
          <p:cNvPr id="20" name="Shape 18"/>
          <p:cNvSpPr/>
          <p:nvPr/>
        </p:nvSpPr>
        <p:spPr>
          <a:xfrm>
            <a:off x="6172200" y="3931920"/>
            <a:ext cx="5257800" cy="1920240"/>
          </a:xfrm>
          <a:prstGeom prst="roundRect">
            <a:avLst>
              <a:gd name="adj" fmla="val 3810"/>
            </a:avLst>
          </a:prstGeom>
          <a:solidFill>
            <a:srgbClr val="F6F8FA"/>
          </a:solidFill>
          <a:ln w="12700">
            <a:solidFill>
              <a:srgbClr val="DCE3EB"/>
            </a:solidFill>
            <a:prstDash val="solid"/>
          </a:ln>
        </p:spPr>
      </p:sp>
      <p:sp>
        <p:nvSpPr>
          <p:cNvPr id="21" name="Shape 19"/>
          <p:cNvSpPr/>
          <p:nvPr/>
        </p:nvSpPr>
        <p:spPr>
          <a:xfrm>
            <a:off x="6428232" y="4187952"/>
            <a:ext cx="384048" cy="384048"/>
          </a:xfrm>
          <a:prstGeom prst="ellipse">
            <a:avLst/>
          </a:prstGeom>
          <a:solidFill>
            <a:srgbClr val="2FB8CC"/>
          </a:solidFill>
          <a:ln/>
        </p:spPr>
      </p:sp>
      <p:sp>
        <p:nvSpPr>
          <p:cNvPr id="22" name="Text 20"/>
          <p:cNvSpPr/>
          <p:nvPr/>
        </p:nvSpPr>
        <p:spPr>
          <a:xfrm>
            <a:off x="6428232" y="4187952"/>
            <a:ext cx="384048" cy="384048"/>
          </a:xfrm>
          <a:prstGeom prst="rect">
            <a:avLst/>
          </a:prstGeom>
          <a:noFill/>
          <a:ln/>
        </p:spPr>
        <p:txBody>
          <a:bodyPr wrap="square" rtlCol="0" anchor="ctr"/>
          <a:lstStyle/>
          <a:p>
            <a:pPr algn="ctr" indent="0" marL="0">
              <a:buNone/>
            </a:pPr>
            <a:r>
              <a:rPr lang="en-US" sz="1400" b="1" dirty="0">
                <a:solidFill>
                  <a:srgbClr val="0B1D33"/>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6949440" y="4133088"/>
            <a:ext cx="4251960" cy="457200"/>
          </a:xfrm>
          <a:prstGeom prst="rect">
            <a:avLst/>
          </a:prstGeom>
          <a:noFill/>
          <a:ln/>
        </p:spPr>
        <p:txBody>
          <a:bodyPr wrap="square" rtlCol="0" anchor="ctr"/>
          <a:lstStyle/>
          <a:p>
            <a:pPr indent="0" marL="0">
              <a:buNone/>
            </a:pPr>
            <a:r>
              <a:rPr lang="en-US" sz="1500" b="1" dirty="0">
                <a:solidFill>
                  <a:srgbClr val="0B1D33"/>
                </a:solidFill>
                <a:latin typeface="Cambria" pitchFamily="34" charset="0"/>
                <a:ea typeface="Cambria" pitchFamily="34" charset="-122"/>
                <a:cs typeface="Cambria" pitchFamily="34" charset="-120"/>
              </a:rPr>
              <a:t>Support informed sensor selection</a:t>
            </a:r>
            <a:endParaRPr lang="en-US" sz="1500" dirty="0"/>
          </a:p>
        </p:txBody>
      </p:sp>
      <p:sp>
        <p:nvSpPr>
          <p:cNvPr id="24" name="Text 22"/>
          <p:cNvSpPr/>
          <p:nvPr/>
        </p:nvSpPr>
        <p:spPr>
          <a:xfrm>
            <a:off x="6949440" y="4590288"/>
            <a:ext cx="4251960" cy="1143000"/>
          </a:xfrm>
          <a:prstGeom prst="rect">
            <a:avLst/>
          </a:prstGeom>
          <a:noFill/>
          <a:ln/>
        </p:spPr>
        <p:txBody>
          <a:bodyPr wrap="square" rtlCol="0" anchor="ctr"/>
          <a:lstStyle/>
          <a:p>
            <a:pPr indent="0" marL="0">
              <a:lnSpc>
                <a:spcPct val="115000"/>
              </a:lnSpc>
              <a:buNone/>
            </a:pPr>
            <a:r>
              <a:rPr lang="en-US" sz="1150" dirty="0">
                <a:solidFill>
                  <a:srgbClr val="5B6B82"/>
                </a:solidFill>
                <a:latin typeface="Calibri" pitchFamily="34" charset="0"/>
                <a:ea typeface="Calibri" pitchFamily="34" charset="-122"/>
                <a:cs typeface="Calibri" pitchFamily="34" charset="-120"/>
              </a:rPr>
              <a:t>Provide a clear decision framework for engineers choosing between CCD and CMOS in system design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20240" cy="365760"/>
          </a:xfrm>
          <a:prstGeom prst="roundRect">
            <a:avLst>
              <a:gd name="adj" fmla="val 15000"/>
            </a:avLst>
          </a:prstGeom>
          <a:solidFill>
            <a:srgbClr val="0B1D33"/>
          </a:solidFill>
          <a:ln/>
        </p:spPr>
      </p:sp>
      <p:sp>
        <p:nvSpPr>
          <p:cNvPr id="3" name="Text 1"/>
          <p:cNvSpPr/>
          <p:nvPr/>
        </p:nvSpPr>
        <p:spPr>
          <a:xfrm>
            <a:off x="548640" y="411480"/>
            <a:ext cx="1920240" cy="365760"/>
          </a:xfrm>
          <a:prstGeom prst="rect">
            <a:avLst/>
          </a:prstGeom>
          <a:noFill/>
          <a:ln/>
        </p:spPr>
        <p:txBody>
          <a:bodyPr wrap="square" rtlCol="0" anchor="ctr"/>
          <a:lstStyle/>
          <a:p>
            <a:pPr algn="ctr" indent="0" marL="0">
              <a:buNone/>
            </a:pPr>
            <a:r>
              <a:rPr lang="en-US" sz="1100" b="1" spc="100" kern="0" dirty="0">
                <a:solidFill>
                  <a:srgbClr val="2FB8CC"/>
                </a:solidFill>
                <a:latin typeface="Calibri" pitchFamily="34" charset="0"/>
                <a:ea typeface="Calibri" pitchFamily="34" charset="-122"/>
                <a:cs typeface="Calibri" pitchFamily="34" charset="-120"/>
              </a:rPr>
              <a:t>RESULT</a:t>
            </a:r>
            <a:endParaRPr lang="en-US" sz="1100" dirty="0"/>
          </a:p>
        </p:txBody>
      </p:sp>
      <p:sp>
        <p:nvSpPr>
          <p:cNvPr id="4" name="Text 2"/>
          <p:cNvSpPr/>
          <p:nvPr/>
        </p:nvSpPr>
        <p:spPr>
          <a:xfrm>
            <a:off x="548640" y="914400"/>
            <a:ext cx="10058400" cy="548640"/>
          </a:xfrm>
          <a:prstGeom prst="rect">
            <a:avLst/>
          </a:prstGeom>
          <a:noFill/>
          <a:ln/>
        </p:spPr>
        <p:txBody>
          <a:bodyPr wrap="square" rtlCol="0" anchor="ctr"/>
          <a:lstStyle/>
          <a:p>
            <a:pPr indent="0" marL="0">
              <a:buNone/>
            </a:pPr>
            <a:r>
              <a:rPr lang="en-US" sz="2800" b="1" dirty="0">
                <a:solidFill>
                  <a:srgbClr val="0B1D33"/>
                </a:solidFill>
                <a:latin typeface="Cambria" pitchFamily="34" charset="0"/>
                <a:ea typeface="Cambria" pitchFamily="34" charset="-122"/>
                <a:cs typeface="Cambria" pitchFamily="34" charset="-120"/>
              </a:rPr>
              <a:t>Comparative Findings</a:t>
            </a:r>
            <a:endParaRPr lang="en-US" sz="2800" dirty="0"/>
          </a:p>
        </p:txBody>
      </p:sp>
      <p:sp>
        <p:nvSpPr>
          <p:cNvPr id="5" name="Text 3"/>
          <p:cNvSpPr/>
          <p:nvPr/>
        </p:nvSpPr>
        <p:spPr>
          <a:xfrm>
            <a:off x="548640" y="1417320"/>
            <a:ext cx="10058400" cy="365760"/>
          </a:xfrm>
          <a:prstGeom prst="rect">
            <a:avLst/>
          </a:prstGeom>
          <a:noFill/>
          <a:ln/>
        </p:spPr>
        <p:txBody>
          <a:bodyPr wrap="square" rtlCol="0" anchor="ctr"/>
          <a:lstStyle/>
          <a:p>
            <a:pPr indent="0" marL="0">
              <a:buNone/>
            </a:pPr>
            <a:r>
              <a:rPr lang="en-US" sz="1250" dirty="0">
                <a:solidFill>
                  <a:srgbClr val="5B6B82"/>
                </a:solidFill>
                <a:latin typeface="Calibri" pitchFamily="34" charset="0"/>
                <a:ea typeface="Calibri" pitchFamily="34" charset="-122"/>
                <a:cs typeface="Calibri" pitchFamily="34" charset="-120"/>
              </a:rPr>
              <a:t>Relative performance across six design dimensions (1 = weakest, 10 = strongest)</a:t>
            </a:r>
            <a:endParaRPr lang="en-US" sz="1250" dirty="0"/>
          </a:p>
        </p:txBody>
      </p:sp>
      <p:graphicFrame>
        <p:nvGraphicFramePr>
          <p:cNvPr id="6" name="Chart 0" descr=""/>
          <p:cNvGraphicFramePr/>
          <p:nvPr/>
        </p:nvGraphicFramePr>
        <p:xfrm>
          <a:off x="457200" y="182880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06640" y="1874520"/>
            <a:ext cx="4206240" cy="2103120"/>
          </a:xfrm>
          <a:prstGeom prst="roundRect">
            <a:avLst>
              <a:gd name="adj" fmla="val 3478"/>
            </a:avLst>
          </a:prstGeom>
          <a:solidFill>
            <a:srgbClr val="FEF7EA"/>
          </a:solidFill>
          <a:ln w="12700">
            <a:solidFill>
              <a:srgbClr val="F2A93B"/>
            </a:solidFill>
            <a:prstDash val="solid"/>
          </a:ln>
        </p:spPr>
      </p:sp>
      <p:sp>
        <p:nvSpPr>
          <p:cNvPr id="8" name="Text 5"/>
          <p:cNvSpPr/>
          <p:nvPr/>
        </p:nvSpPr>
        <p:spPr>
          <a:xfrm>
            <a:off x="7635240" y="2029968"/>
            <a:ext cx="3749040" cy="320040"/>
          </a:xfrm>
          <a:prstGeom prst="rect">
            <a:avLst/>
          </a:prstGeom>
          <a:noFill/>
          <a:ln/>
        </p:spPr>
        <p:txBody>
          <a:bodyPr wrap="square" rtlCol="0" anchor="ctr"/>
          <a:lstStyle/>
          <a:p>
            <a:pPr indent="0" marL="0">
              <a:buNone/>
            </a:pPr>
            <a:r>
              <a:rPr lang="en-US" sz="1300" b="1" dirty="0">
                <a:solidFill>
                  <a:srgbClr val="B8801F"/>
                </a:solidFill>
                <a:latin typeface="Calibri" pitchFamily="34" charset="0"/>
                <a:ea typeface="Calibri" pitchFamily="34" charset="-122"/>
                <a:cs typeface="Calibri" pitchFamily="34" charset="-120"/>
              </a:rPr>
              <a:t>CCD leads on</a:t>
            </a:r>
            <a:endParaRPr lang="en-US" sz="1300" dirty="0"/>
          </a:p>
        </p:txBody>
      </p:sp>
      <p:sp>
        <p:nvSpPr>
          <p:cNvPr id="9" name="Text 6"/>
          <p:cNvSpPr/>
          <p:nvPr/>
        </p:nvSpPr>
        <p:spPr>
          <a:xfrm>
            <a:off x="7635240" y="2359152"/>
            <a:ext cx="3749040" cy="1463040"/>
          </a:xfrm>
          <a:prstGeom prst="rect">
            <a:avLst/>
          </a:prstGeom>
          <a:noFill/>
          <a:ln/>
        </p:spPr>
        <p:txBody>
          <a:bodyPr wrap="square" rtlCol="0" anchor="ctr"/>
          <a:lstStyle/>
          <a:p>
            <a:pPr indent="0" marL="0">
              <a:lnSpc>
                <a:spcPct val="115000"/>
              </a:lnSpc>
              <a:buNone/>
            </a:pPr>
            <a:r>
              <a:rPr lang="en-US" sz="1200" dirty="0">
                <a:solidFill>
                  <a:srgbClr val="0B1D33"/>
                </a:solidFill>
                <a:latin typeface="Calibri" pitchFamily="34" charset="0"/>
                <a:ea typeface="Calibri" pitchFamily="34" charset="-122"/>
                <a:cs typeface="Calibri" pitchFamily="34" charset="-120"/>
              </a:rPr>
              <a:t>Dynamic range and low-noise uniformity — the single-amplifier path keeps output consistent pixel to pixel.</a:t>
            </a:r>
            <a:endParaRPr lang="en-US" sz="1200" dirty="0"/>
          </a:p>
        </p:txBody>
      </p:sp>
      <p:sp>
        <p:nvSpPr>
          <p:cNvPr id="10" name="Shape 7"/>
          <p:cNvSpPr/>
          <p:nvPr/>
        </p:nvSpPr>
        <p:spPr>
          <a:xfrm>
            <a:off x="7406640" y="4160520"/>
            <a:ext cx="4206240" cy="2331720"/>
          </a:xfrm>
          <a:prstGeom prst="roundRect">
            <a:avLst>
              <a:gd name="adj" fmla="val 3137"/>
            </a:avLst>
          </a:prstGeom>
          <a:solidFill>
            <a:srgbClr val="EAF8FA"/>
          </a:solidFill>
          <a:ln w="12700">
            <a:solidFill>
              <a:srgbClr val="2FB8CC"/>
            </a:solidFill>
            <a:prstDash val="solid"/>
          </a:ln>
        </p:spPr>
      </p:sp>
      <p:sp>
        <p:nvSpPr>
          <p:cNvPr id="11" name="Text 8"/>
          <p:cNvSpPr/>
          <p:nvPr/>
        </p:nvSpPr>
        <p:spPr>
          <a:xfrm>
            <a:off x="7635240" y="4315968"/>
            <a:ext cx="3749040" cy="320040"/>
          </a:xfrm>
          <a:prstGeom prst="rect">
            <a:avLst/>
          </a:prstGeom>
          <a:noFill/>
          <a:ln/>
        </p:spPr>
        <p:txBody>
          <a:bodyPr wrap="square" rtlCol="0" anchor="ctr"/>
          <a:lstStyle/>
          <a:p>
            <a:pPr indent="0" marL="0">
              <a:buNone/>
            </a:pPr>
            <a:r>
              <a:rPr lang="en-US" sz="1300" b="1" dirty="0">
                <a:solidFill>
                  <a:srgbClr val="1D95A6"/>
                </a:solidFill>
                <a:latin typeface="Calibri" pitchFamily="34" charset="0"/>
                <a:ea typeface="Calibri" pitchFamily="34" charset="-122"/>
                <a:cs typeface="Calibri" pitchFamily="34" charset="-120"/>
              </a:rPr>
              <a:t>CMOS leads on</a:t>
            </a:r>
            <a:endParaRPr lang="en-US" sz="1300" dirty="0"/>
          </a:p>
        </p:txBody>
      </p:sp>
      <p:sp>
        <p:nvSpPr>
          <p:cNvPr id="12" name="Text 9"/>
          <p:cNvSpPr/>
          <p:nvPr/>
        </p:nvSpPr>
        <p:spPr>
          <a:xfrm>
            <a:off x="7635240" y="4645152"/>
            <a:ext cx="3749040" cy="1737360"/>
          </a:xfrm>
          <a:prstGeom prst="rect">
            <a:avLst/>
          </a:prstGeom>
          <a:noFill/>
          <a:ln/>
        </p:spPr>
        <p:txBody>
          <a:bodyPr wrap="square" rtlCol="0" anchor="ctr"/>
          <a:lstStyle/>
          <a:p>
            <a:pPr indent="0" marL="0">
              <a:lnSpc>
                <a:spcPct val="115000"/>
              </a:lnSpc>
              <a:buNone/>
            </a:pPr>
            <a:r>
              <a:rPr lang="en-US" sz="1200" dirty="0">
                <a:solidFill>
                  <a:srgbClr val="0B1D33"/>
                </a:solidFill>
                <a:latin typeface="Calibri" pitchFamily="34" charset="0"/>
                <a:ea typeface="Calibri" pitchFamily="34" charset="-122"/>
                <a:cs typeface="Calibri" pitchFamily="34" charset="-120"/>
              </a:rPr>
              <a:t>Speed, power, cost, and integration — parallel column ADCs and on-die logic suit high-volume systems.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3"/>
        </a:solidFill>
      </p:bgPr>
    </p:bg>
    <p:spTree>
      <p:nvGrpSpPr>
        <p:cNvPr id="1" name=""/>
        <p:cNvGrpSpPr/>
        <p:nvPr/>
      </p:nvGrpSpPr>
      <p:grpSpPr>
        <a:xfrm>
          <a:off x="0" y="0"/>
          <a:ext cx="0" cy="0"/>
          <a:chOff x="0" y="0"/>
          <a:chExt cx="0" cy="0"/>
        </a:xfrm>
      </p:grpSpPr>
      <p:sp>
        <p:nvSpPr>
          <p:cNvPr id="2" name="Shape 0"/>
          <p:cNvSpPr/>
          <p:nvPr/>
        </p:nvSpPr>
        <p:spPr>
          <a:xfrm>
            <a:off x="548640" y="411480"/>
            <a:ext cx="1920240" cy="365760"/>
          </a:xfrm>
          <a:prstGeom prst="roundRect">
            <a:avLst>
              <a:gd name="adj" fmla="val 15000"/>
            </a:avLst>
          </a:prstGeom>
          <a:solidFill>
            <a:srgbClr val="0B1D33"/>
          </a:solidFill>
          <a:ln/>
        </p:spPr>
      </p:sp>
      <p:sp>
        <p:nvSpPr>
          <p:cNvPr id="3" name="Text 1"/>
          <p:cNvSpPr/>
          <p:nvPr/>
        </p:nvSpPr>
        <p:spPr>
          <a:xfrm>
            <a:off x="548640" y="411480"/>
            <a:ext cx="1920240" cy="365760"/>
          </a:xfrm>
          <a:prstGeom prst="rect">
            <a:avLst/>
          </a:prstGeom>
          <a:noFill/>
          <a:ln/>
        </p:spPr>
        <p:txBody>
          <a:bodyPr wrap="square" rtlCol="0" anchor="ctr"/>
          <a:lstStyle/>
          <a:p>
            <a:pPr algn="ctr" indent="0" marL="0">
              <a:buNone/>
            </a:pPr>
            <a:r>
              <a:rPr lang="en-US" sz="1100" b="1" spc="100" kern="0" dirty="0">
                <a:solidFill>
                  <a:srgbClr val="2FB8CC"/>
                </a:solidFill>
                <a:latin typeface="Calibri" pitchFamily="34" charset="0"/>
                <a:ea typeface="Calibri" pitchFamily="34" charset="-122"/>
                <a:cs typeface="Calibri" pitchFamily="34" charset="-120"/>
              </a:rPr>
              <a:t>CONCLUSION</a:t>
            </a:r>
            <a:endParaRPr lang="en-US" sz="1100" dirty="0"/>
          </a:p>
        </p:txBody>
      </p:sp>
      <p:sp>
        <p:nvSpPr>
          <p:cNvPr id="4" name="Text 2"/>
          <p:cNvSpPr/>
          <p:nvPr/>
        </p:nvSpPr>
        <p:spPr>
          <a:xfrm>
            <a:off x="548640" y="914400"/>
            <a:ext cx="100584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Summary &amp; Recommendation</a:t>
            </a:r>
            <a:endParaRPr lang="en-US" sz="2800" dirty="0"/>
          </a:p>
        </p:txBody>
      </p:sp>
      <p:sp>
        <p:nvSpPr>
          <p:cNvPr id="5" name="Shape 3"/>
          <p:cNvSpPr/>
          <p:nvPr/>
        </p:nvSpPr>
        <p:spPr>
          <a:xfrm>
            <a:off x="548640" y="1600200"/>
            <a:ext cx="5349240" cy="2468880"/>
          </a:xfrm>
          <a:prstGeom prst="roundRect">
            <a:avLst>
              <a:gd name="adj" fmla="val 3704"/>
            </a:avLst>
          </a:prstGeom>
          <a:solidFill>
            <a:srgbClr val="132C4C"/>
          </a:solidFill>
          <a:ln w="12700">
            <a:solidFill>
              <a:srgbClr val="F2A93B"/>
            </a:solidFill>
            <a:prstDash val="solid"/>
          </a:ln>
        </p:spPr>
      </p:sp>
      <p:sp>
        <p:nvSpPr>
          <p:cNvPr id="6" name="Text 4"/>
          <p:cNvSpPr/>
          <p:nvPr/>
        </p:nvSpPr>
        <p:spPr>
          <a:xfrm>
            <a:off x="822960" y="1828800"/>
            <a:ext cx="4800600" cy="365760"/>
          </a:xfrm>
          <a:prstGeom prst="rect">
            <a:avLst/>
          </a:prstGeom>
          <a:noFill/>
          <a:ln/>
        </p:spPr>
        <p:txBody>
          <a:bodyPr wrap="square" rtlCol="0" anchor="ctr"/>
          <a:lstStyle/>
          <a:p>
            <a:pPr indent="0" marL="0">
              <a:buNone/>
            </a:pPr>
            <a:r>
              <a:rPr lang="en-US" sz="1600" b="1" dirty="0">
                <a:solidFill>
                  <a:srgbClr val="F2A93B"/>
                </a:solidFill>
                <a:latin typeface="Cambria" pitchFamily="34" charset="0"/>
                <a:ea typeface="Cambria" pitchFamily="34" charset="-122"/>
                <a:cs typeface="Cambria" pitchFamily="34" charset="-120"/>
              </a:rPr>
              <a:t>Choose CCD when …</a:t>
            </a:r>
            <a:endParaRPr lang="en-US" sz="1600" dirty="0"/>
          </a:p>
        </p:txBody>
      </p:sp>
      <p:sp>
        <p:nvSpPr>
          <p:cNvPr id="7" name="Text 5"/>
          <p:cNvSpPr/>
          <p:nvPr/>
        </p:nvSpPr>
        <p:spPr>
          <a:xfrm>
            <a:off x="822960" y="2286000"/>
            <a:ext cx="4800600" cy="1645920"/>
          </a:xfrm>
          <a:prstGeom prst="rect">
            <a:avLst/>
          </a:prstGeom>
          <a:noFill/>
          <a:ln/>
        </p:spPr>
        <p:txBody>
          <a:bodyPr wrap="square" rtlCol="0" anchor="ctr"/>
          <a:lstStyle/>
          <a:p>
            <a:pPr marL="342900" indent="-342900">
              <a:lnSpc>
                <a:spcPct val="115000"/>
              </a:lnSpc>
              <a:spcAft>
                <a:spcPts val="800"/>
              </a:spcAft>
              <a:buSzPct val="100000"/>
              <a:buChar char="•"/>
            </a:pPr>
            <a:r>
              <a:rPr lang="en-US" sz="1250" dirty="0">
                <a:solidFill>
                  <a:srgbClr val="E4EAF3"/>
                </a:solidFill>
                <a:latin typeface="Calibri" pitchFamily="34" charset="0"/>
                <a:ea typeface="Calibri" pitchFamily="34" charset="-122"/>
                <a:cs typeface="Calibri" pitchFamily="34" charset="-120"/>
              </a:rPr>
              <a:t>Signal uniformity and dynamic range matter most</a:t>
            </a:r>
            <a:endParaRPr lang="en-US" sz="1250" dirty="0"/>
          </a:p>
          <a:p>
            <a:pPr marL="342900" indent="-342900">
              <a:lnSpc>
                <a:spcPct val="115000"/>
              </a:lnSpc>
              <a:spcAft>
                <a:spcPts val="800"/>
              </a:spcAft>
              <a:buSzPct val="100000"/>
              <a:buChar char="•"/>
            </a:pPr>
            <a:r>
              <a:rPr lang="en-US" sz="1250" dirty="0">
                <a:solidFill>
                  <a:srgbClr val="E4EAF3"/>
                </a:solidFill>
                <a:latin typeface="Calibri" pitchFamily="34" charset="0"/>
                <a:ea typeface="Calibri" pitchFamily="34" charset="-122"/>
                <a:cs typeface="Calibri" pitchFamily="34" charset="-120"/>
              </a:rPr>
              <a:t>True global shutter is required</a:t>
            </a:r>
            <a:endParaRPr lang="en-US" sz="1250" dirty="0"/>
          </a:p>
          <a:p>
            <a:pPr marL="342900" indent="-342900">
              <a:lnSpc>
                <a:spcPct val="115000"/>
              </a:lnSpc>
              <a:spcAft>
                <a:spcPts val="800"/>
              </a:spcAft>
              <a:buSzPct val="100000"/>
              <a:buChar char="•"/>
            </a:pPr>
            <a:r>
              <a:rPr lang="en-US" sz="1250" dirty="0">
                <a:solidFill>
                  <a:srgbClr val="E4EAF3"/>
                </a:solidFill>
                <a:latin typeface="Calibri" pitchFamily="34" charset="0"/>
                <a:ea typeface="Calibri" pitchFamily="34" charset="-122"/>
                <a:cs typeface="Calibri" pitchFamily="34" charset="-120"/>
              </a:rPr>
              <a:t>Power and cost are secondary concerns</a:t>
            </a:r>
            <a:endParaRPr lang="en-US" sz="1250" dirty="0"/>
          </a:p>
        </p:txBody>
      </p:sp>
      <p:sp>
        <p:nvSpPr>
          <p:cNvPr id="8" name="Shape 6"/>
          <p:cNvSpPr/>
          <p:nvPr/>
        </p:nvSpPr>
        <p:spPr>
          <a:xfrm>
            <a:off x="6263640" y="1600200"/>
            <a:ext cx="5349240" cy="2468880"/>
          </a:xfrm>
          <a:prstGeom prst="roundRect">
            <a:avLst>
              <a:gd name="adj" fmla="val 3704"/>
            </a:avLst>
          </a:prstGeom>
          <a:solidFill>
            <a:srgbClr val="132C4C"/>
          </a:solidFill>
          <a:ln w="12700">
            <a:solidFill>
              <a:srgbClr val="2FB8CC"/>
            </a:solidFill>
            <a:prstDash val="solid"/>
          </a:ln>
        </p:spPr>
      </p:sp>
      <p:sp>
        <p:nvSpPr>
          <p:cNvPr id="9" name="Text 7"/>
          <p:cNvSpPr/>
          <p:nvPr/>
        </p:nvSpPr>
        <p:spPr>
          <a:xfrm>
            <a:off x="6537960" y="1828800"/>
            <a:ext cx="4800600" cy="365760"/>
          </a:xfrm>
          <a:prstGeom prst="rect">
            <a:avLst/>
          </a:prstGeom>
          <a:noFill/>
          <a:ln/>
        </p:spPr>
        <p:txBody>
          <a:bodyPr wrap="square" rtlCol="0" anchor="ctr"/>
          <a:lstStyle/>
          <a:p>
            <a:pPr indent="0" marL="0">
              <a:buNone/>
            </a:pPr>
            <a:r>
              <a:rPr lang="en-US" sz="1600" b="1" dirty="0">
                <a:solidFill>
                  <a:srgbClr val="2FB8CC"/>
                </a:solidFill>
                <a:latin typeface="Cambria" pitchFamily="34" charset="0"/>
                <a:ea typeface="Cambria" pitchFamily="34" charset="-122"/>
                <a:cs typeface="Cambria" pitchFamily="34" charset="-120"/>
              </a:rPr>
              <a:t>Choose CMOS when …</a:t>
            </a:r>
            <a:endParaRPr lang="en-US" sz="1600" dirty="0"/>
          </a:p>
        </p:txBody>
      </p:sp>
      <p:sp>
        <p:nvSpPr>
          <p:cNvPr id="10" name="Text 8"/>
          <p:cNvSpPr/>
          <p:nvPr/>
        </p:nvSpPr>
        <p:spPr>
          <a:xfrm>
            <a:off x="6537960" y="2286000"/>
            <a:ext cx="4800600" cy="1645920"/>
          </a:xfrm>
          <a:prstGeom prst="rect">
            <a:avLst/>
          </a:prstGeom>
          <a:noFill/>
          <a:ln/>
        </p:spPr>
        <p:txBody>
          <a:bodyPr wrap="square" rtlCol="0" anchor="ctr"/>
          <a:lstStyle/>
          <a:p>
            <a:pPr marL="342900" indent="-342900">
              <a:lnSpc>
                <a:spcPct val="115000"/>
              </a:lnSpc>
              <a:spcAft>
                <a:spcPts val="800"/>
              </a:spcAft>
              <a:buSzPct val="100000"/>
              <a:buChar char="•"/>
            </a:pPr>
            <a:r>
              <a:rPr lang="en-US" sz="1250" dirty="0">
                <a:solidFill>
                  <a:srgbClr val="E4EAF3"/>
                </a:solidFill>
                <a:latin typeface="Calibri" pitchFamily="34" charset="0"/>
                <a:ea typeface="Calibri" pitchFamily="34" charset="-122"/>
                <a:cs typeface="Calibri" pitchFamily="34" charset="-120"/>
              </a:rPr>
              <a:t>Power, size, and cost are primary constraints</a:t>
            </a:r>
            <a:endParaRPr lang="en-US" sz="1250" dirty="0"/>
          </a:p>
          <a:p>
            <a:pPr marL="342900" indent="-342900">
              <a:lnSpc>
                <a:spcPct val="115000"/>
              </a:lnSpc>
              <a:spcAft>
                <a:spcPts val="800"/>
              </a:spcAft>
              <a:buSzPct val="100000"/>
              <a:buChar char="•"/>
            </a:pPr>
            <a:r>
              <a:rPr lang="en-US" sz="1250" dirty="0">
                <a:solidFill>
                  <a:srgbClr val="E4EAF3"/>
                </a:solidFill>
                <a:latin typeface="Calibri" pitchFamily="34" charset="0"/>
                <a:ea typeface="Calibri" pitchFamily="34" charset="-122"/>
                <a:cs typeface="Calibri" pitchFamily="34" charset="-120"/>
              </a:rPr>
              <a:t>High frame rate or on-chip processing is needed</a:t>
            </a:r>
            <a:endParaRPr lang="en-US" sz="1250" dirty="0"/>
          </a:p>
          <a:p>
            <a:pPr marL="342900" indent="-342900">
              <a:lnSpc>
                <a:spcPct val="115000"/>
              </a:lnSpc>
              <a:spcAft>
                <a:spcPts val="800"/>
              </a:spcAft>
              <a:buSzPct val="100000"/>
              <a:buChar char="•"/>
            </a:pPr>
            <a:r>
              <a:rPr lang="en-US" sz="1250" dirty="0">
                <a:solidFill>
                  <a:srgbClr val="E4EAF3"/>
                </a:solidFill>
                <a:latin typeface="Calibri" pitchFamily="34" charset="0"/>
                <a:ea typeface="Calibri" pitchFamily="34" charset="-122"/>
                <a:cs typeface="Calibri" pitchFamily="34" charset="-120"/>
              </a:rPr>
              <a:t>Production volume favors standard fabrication</a:t>
            </a:r>
            <a:endParaRPr lang="en-US" sz="1250" dirty="0"/>
          </a:p>
        </p:txBody>
      </p:sp>
      <p:sp>
        <p:nvSpPr>
          <p:cNvPr id="11" name="Shape 9"/>
          <p:cNvSpPr/>
          <p:nvPr/>
        </p:nvSpPr>
        <p:spPr>
          <a:xfrm>
            <a:off x="548640" y="4297680"/>
            <a:ext cx="11064240" cy="1920240"/>
          </a:xfrm>
          <a:prstGeom prst="roundRect">
            <a:avLst>
              <a:gd name="adj" fmla="val 4762"/>
            </a:avLst>
          </a:prstGeom>
          <a:solidFill>
            <a:srgbClr val="112544"/>
          </a:solidFill>
          <a:ln w="12700">
            <a:solidFill>
              <a:srgbClr val="2A4A73"/>
            </a:solidFill>
            <a:prstDash val="solid"/>
          </a:ln>
        </p:spPr>
      </p:sp>
      <p:sp>
        <p:nvSpPr>
          <p:cNvPr id="12" name="Text 10"/>
          <p:cNvSpPr/>
          <p:nvPr/>
        </p:nvSpPr>
        <p:spPr>
          <a:xfrm>
            <a:off x="822960" y="4480560"/>
            <a:ext cx="2743200" cy="320040"/>
          </a:xfrm>
          <a:prstGeom prst="rect">
            <a:avLst/>
          </a:prstGeom>
          <a:noFill/>
          <a:ln/>
        </p:spPr>
        <p:txBody>
          <a:bodyPr wrap="square" rtlCol="0" anchor="ctr"/>
          <a:lstStyle/>
          <a:p>
            <a:pPr indent="0" marL="0">
              <a:buNone/>
            </a:pPr>
            <a:r>
              <a:rPr lang="en-US" sz="1200" b="1" spc="100" kern="0" dirty="0">
                <a:solidFill>
                  <a:srgbClr val="8FA6C7"/>
                </a:solidFill>
                <a:latin typeface="Calibri" pitchFamily="34" charset="0"/>
                <a:ea typeface="Calibri" pitchFamily="34" charset="-122"/>
                <a:cs typeface="Calibri" pitchFamily="34" charset="-120"/>
              </a:rPr>
              <a:t>Key takeaway</a:t>
            </a:r>
            <a:endParaRPr lang="en-US" sz="1200" dirty="0"/>
          </a:p>
        </p:txBody>
      </p:sp>
      <p:sp>
        <p:nvSpPr>
          <p:cNvPr id="13" name="Text 11"/>
          <p:cNvSpPr/>
          <p:nvPr/>
        </p:nvSpPr>
        <p:spPr>
          <a:xfrm>
            <a:off x="822960" y="4828032"/>
            <a:ext cx="10515600" cy="1280160"/>
          </a:xfrm>
          <a:prstGeom prst="rect">
            <a:avLst/>
          </a:prstGeom>
          <a:noFill/>
          <a:ln/>
        </p:spPr>
        <p:txBody>
          <a:bodyPr wrap="square" rtlCol="0" anchor="ctr"/>
          <a:lstStyle/>
          <a:p>
            <a:pPr indent="0" marL="0">
              <a:lnSpc>
                <a:spcPct val="120000"/>
              </a:lnSpc>
              <a:buNone/>
            </a:pPr>
            <a:r>
              <a:rPr lang="en-US" sz="1250" dirty="0">
                <a:solidFill>
                  <a:srgbClr val="D7E0EE"/>
                </a:solidFill>
                <a:latin typeface="Calibri" pitchFamily="34" charset="0"/>
                <a:ea typeface="Calibri" pitchFamily="34" charset="-122"/>
                <a:cs typeface="Calibri" pitchFamily="34" charset="-120"/>
              </a:rPr>
              <a:t>CCD and CMOS solve the same problem — converting light into a digital signal — through fundamentally different readout architectures. CCD's serial, single-amplifier design yields uniform, low-noise images but at higher power and cost. CMOS's parallel, in-pixel design trades a little uniformity for speed, efficiency, and integration. Backside-illuminated and stacked CMOS have closed most of the historical quality gap, making CMOS the default choice for nearly all modern systems, while CCD remains relevant for specialized scientific and precision-imaging applications.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2026-07-14T04:21:25Z</dcterms:created>
  <dcterms:modified xsi:type="dcterms:W3CDTF">2026-07-14T04:21:25Z</dcterms:modified>
</cp:coreProperties>
</file>